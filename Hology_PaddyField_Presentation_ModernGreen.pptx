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print_grid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52C47E"/>
                </a:solidFill>
                <a:latin typeface="Segoe UI"/>
              </a:defRPr>
            </a:pPr>
            <a:r>
              <a:t>HOLOMINE · HOLOGY 9.0 · UNIVERSITAS BRAWIJAYA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40080"/>
            <a:ext cx="35661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>
                <a:solidFill>
                  <a:srgbClr val="FFFFFF"/>
                </a:solidFill>
                <a:latin typeface="Segoe UI"/>
              </a:defRPr>
            </a:pPr>
            <a:r>
              <a:t>Babak Final · Oktober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2179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Segoe UI"/>
              </a:defRPr>
            </a:pPr>
            <a:r>
              <a:t>Membaca Sawah</a:t>
            </a:r>
            <a:br/>
            <a:r>
              <a:t>Dari Langit</a:t>
            </a:r>
          </a:p>
          <a:p>
            <a:br/>
            <a:pPr>
              <a:defRPr sz="1600">
                <a:solidFill>
                  <a:srgbClr val="D2EBDC"/>
                </a:solidFill>
                <a:latin typeface="Segoe UI"/>
              </a:defRPr>
            </a:pPr>
            <a:r>
              <a:t>Segmentasi semantik citra satelit Pleiades 0,5m Tangerang Sepatan Timur dengan multi-family ensemble bebas leakage.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62179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>
                <a:solidFill>
                  <a:srgbClr val="52C47E"/>
                </a:solidFill>
                <a:latin typeface="Segoe UI"/>
              </a:defRPr>
            </a:pPr>
            <a:r>
              <a:t>Presented By:</a:t>
            </a:r>
          </a:p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Jeremy  •  Ababil Khoerul Imam  •  Vierico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63040"/>
            <a:ext cx="40233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1_img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508760"/>
            <a:ext cx="3931920" cy="2194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0" y="3977639"/>
            <a:ext cx="40233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ge_1_img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4023360"/>
            <a:ext cx="39319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MASALAHNYA: </a:t>
            </a:r>
            <a:r>
              <a:rPr sz="2000" b="1">
                <a:solidFill>
                  <a:srgbClr val="103524"/>
                </a:solidFill>
                <a:latin typeface="Segoe UI"/>
              </a:rPr>
              <a:t>DATA SAWAH NASIONAL MASIH BERBEDA HINGGA JUTAAN HEKTAR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Satelit optik resolusi tinggi sangat dibutuhkan, namun segmentasi otomatis menghadapi tantangan fisik lapangan.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29260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AKURASI SAMPEL CITRA</a:t>
            </a:r>
          </a:p>
          <a:p>
            <a:pPr>
              <a:spcBef>
                <a:spcPts val="200"/>
              </a:spcBef>
              <a:defRPr sz="2700" b="1">
                <a:solidFill>
                  <a:srgbClr val="103524"/>
                </a:solidFill>
                <a:latin typeface="Segoe UI"/>
              </a:defRPr>
            </a:pPr>
            <a:r>
              <a:t>92%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sampel KSA citra satelit disebut tidak akurat oleh Mentan (2018)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00200"/>
            <a:ext cx="29260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DISPARITAS DATA NASIONAL</a:t>
            </a:r>
          </a:p>
          <a:p>
            <a:pPr>
              <a:spcBef>
                <a:spcPts val="200"/>
              </a:spcBef>
              <a:defRPr sz="2700" b="1">
                <a:solidFill>
                  <a:srgbClr val="267344"/>
                </a:solidFill>
                <a:latin typeface="Segoe UI"/>
              </a:defRPr>
            </a:pPr>
            <a:r>
              <a:t>7,1 vs 7,46 jt ha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luas baku sawah: penetapan 2018 vs verifikasi 2020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00200"/>
            <a:ext cx="29260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DAMPAK ANGGARAN PUPUK</a:t>
            </a:r>
          </a:p>
          <a:p>
            <a:pPr>
              <a:spcBef>
                <a:spcPts val="200"/>
              </a:spcBef>
              <a:defRPr sz="2700" b="1">
                <a:solidFill>
                  <a:srgbClr val="103524"/>
                </a:solidFill>
                <a:latin typeface="Segoe UI"/>
              </a:defRPr>
            </a:pPr>
            <a:r>
              <a:t>Rp3,1 Triliun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usulan subsidi tambahan setelah verifikasi luasan 2020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61264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5577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3524"/>
                </a:solidFill>
                <a:latin typeface="Segoe UI"/>
              </a:defRPr>
            </a:pPr>
            <a:r>
              <a:t>Tantangan Kompetisi Holomine Paddy Field Finals</a:t>
            </a:r>
          </a:p>
          <a:p>
            <a:pPr>
              <a:spcBef>
                <a:spcPts val="8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Dataset: 123 tile latih &amp; 129 tile uji citra satelit Pleiades (1024×1024, GSD 0,5 m/px).</a:t>
            </a:r>
          </a:p>
          <a:p>
            <a:pPr>
              <a:spcBef>
                <a:spcPts val="8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Metrik Resmi: Rata-rata proporsi tile yang lolos ambang batas IoU 0,50–0,95 (Airbus Object Segmentation Beta).</a:t>
            </a:r>
          </a:p>
          <a:p>
            <a:pPr>
              <a:spcBef>
                <a:spcPts val="8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Pencapaian Akhir: Runner-Up Nasional (Peringkat 2) di Private Leaderboard dengan skor 0,68965 (+5 peringkat naik).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017520"/>
            <a:ext cx="4297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3154680"/>
            <a:ext cx="38404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3524"/>
                </a:solidFill>
                <a:latin typeface="Segoe UI"/>
              </a:defRPr>
            </a:pPr>
            <a:r>
              <a:t>Urgensi Pemetaan Presisi Tinggi</a:t>
            </a:r>
          </a:p>
          <a:p>
            <a:pPr>
              <a:spcBef>
                <a:spcPts val="500"/>
              </a:spcBef>
              <a:defRPr sz="1200">
                <a:solidFill>
                  <a:srgbClr val="18261E"/>
                </a:solidFill>
                <a:latin typeface="Segoe UI"/>
              </a:defRPr>
            </a:pPr>
            <a:r>
              <a:t>1. Survei manual BPS memakan waktu bulanan dan biaya miliaran.</a:t>
            </a:r>
          </a:p>
          <a:p>
            <a:pPr>
              <a:spcBef>
                <a:spcPts val="500"/>
              </a:spcBef>
              <a:defRPr sz="1200">
                <a:solidFill>
                  <a:srgbClr val="18261E"/>
                </a:solidFill>
                <a:latin typeface="Segoe UI"/>
              </a:defRPr>
            </a:pPr>
            <a:r>
              <a:t>2. Citra resolusi rendah (Sentinel/Landsat) gagal mendeteksi pematang sempit.</a:t>
            </a:r>
          </a:p>
          <a:p>
            <a:pPr>
              <a:spcBef>
                <a:spcPts val="500"/>
              </a:spcBef>
              <a:defRPr sz="1200">
                <a:solidFill>
                  <a:srgbClr val="18261E"/>
                </a:solidFill>
                <a:latin typeface="Segoe UI"/>
              </a:defRPr>
            </a:pPr>
            <a:r>
              <a:t>3. Pleiades 0,5m mampu mendeteksi detail, namun rentan false-positive.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5349240"/>
            <a:ext cx="4297680" cy="50292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5E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5440679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A67308"/>
                </a:solidFill>
                <a:latin typeface="Segoe UI"/>
              </a:defRPr>
            </a:pPr>
            <a:r>
              <a:t>Intinya: </a:t>
            </a:r>
            <a:r>
              <a:rPr sz="1250" b="0">
                <a:solidFill>
                  <a:srgbClr val="A67308"/>
                </a:solidFill>
                <a:latin typeface="Segoe UI"/>
              </a:rPr>
              <a:t>segmentasi akurat di tingkat petak adalah kunci penyaluran subsidi pupuk tepat sasaran.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DATASET LOMBA: </a:t>
            </a:r>
            <a:r>
              <a:rPr sz="2000" b="1">
                <a:solidFill>
                  <a:srgbClr val="103524"/>
                </a:solidFill>
                <a:latin typeface="Segoe UI"/>
              </a:rPr>
              <a:t>123 TILE LATIH DENGAN TUTUPAN TIMPANG &amp; ANOMALI NODATA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Audit integritas menemukan 4 karakteristik spasial ekstrem yang menuntut partisi bertingkat khusus.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2057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TILE LATIH / UJI</a:t>
            </a:r>
          </a:p>
          <a:p>
            <a:pPr>
              <a:spcBef>
                <a:spcPts val="200"/>
              </a:spcBef>
              <a:defRPr sz="2700" b="1">
                <a:solidFill>
                  <a:srgbClr val="103524"/>
                </a:solidFill>
                <a:latin typeface="Segoe UI"/>
              </a:defRPr>
            </a:pPr>
            <a:r>
              <a:t>123 / 129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123 train, 129 test (71 pub, 58 priv)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17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554480"/>
            <a:ext cx="2057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DIMENSI CITRA</a:t>
            </a:r>
          </a:p>
          <a:p>
            <a:pPr>
              <a:spcBef>
                <a:spcPts val="200"/>
              </a:spcBef>
              <a:defRPr sz="2700" b="1">
                <a:solidFill>
                  <a:srgbClr val="103524"/>
                </a:solidFill>
                <a:latin typeface="Segoe UI"/>
              </a:defRPr>
            </a:pPr>
            <a:r>
              <a:t>1024×1024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Resolusi spasial 0,5 meter/piksel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2057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RERATA TUTUPAN</a:t>
            </a:r>
          </a:p>
          <a:p>
            <a:pPr>
              <a:spcBef>
                <a:spcPts val="200"/>
              </a:spcBef>
              <a:defRPr sz="2700" b="1">
                <a:solidFill>
                  <a:srgbClr val="103524"/>
                </a:solidFill>
                <a:latin typeface="Segoe UI"/>
              </a:defRPr>
            </a:pPr>
            <a:r>
              <a:t>37,1%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Median tutupan: 34,4% (skewed)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17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554480"/>
            <a:ext cx="2057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RENTANG TUTUPAN</a:t>
            </a:r>
          </a:p>
          <a:p>
            <a:pPr>
              <a:spcBef>
                <a:spcPts val="200"/>
              </a:spcBef>
              <a:defRPr sz="2700" b="1">
                <a:solidFill>
                  <a:srgbClr val="267344"/>
                </a:solidFill>
                <a:latin typeface="Segoe UI"/>
              </a:defRPr>
            </a:pPr>
            <a:r>
              <a:t>1,15% – 99,98%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Min tile: train_010, Max: train_098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257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age_3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34640"/>
            <a:ext cx="5074920" cy="32918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17920" y="2743200"/>
            <a:ext cx="5257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3524"/>
                </a:solidFill>
                <a:latin typeface="Segoe UI"/>
              </a:defRPr>
            </a:pPr>
            <a:r>
              <a:t>Empat Tantangan Utama Karakteristik Data</a:t>
            </a:r>
          </a:p>
          <a:p>
            <a:pPr>
              <a:spcBef>
                <a:spcPts val="800"/>
              </a:spcBef>
              <a:defRPr sz="1200">
                <a:solidFill>
                  <a:srgbClr val="18261E"/>
                </a:solidFill>
                <a:latin typeface="Segoe UI"/>
              </a:defRPr>
            </a:pPr>
            <a:r>
              <a:t>1. NoData Hitam ±19% Piksel: Sebanyak 22 tile latih memiliki area kosong &gt;50% akibat potongan sudut orbit satelit mosaik.</a:t>
            </a:r>
          </a:p>
          <a:p>
            <a:pPr>
              <a:spcBef>
                <a:spcPts val="800"/>
              </a:spcBef>
              <a:defRPr sz="1200">
                <a:solidFill>
                  <a:srgbClr val="18261E"/>
                </a:solidFill>
                <a:latin typeface="Segoe UI"/>
              </a:defRPr>
            </a:pPr>
            <a:r>
              <a:t>2. Ketiadaan Kanal NIR: Hanya tersedia kanal RGB; NDVI standar tidak dapat dihitung langsung sehingga butuh indeks substitusi NGRDI.</a:t>
            </a:r>
          </a:p>
          <a:p>
            <a:pPr>
              <a:spcBef>
                <a:spcPts val="800"/>
              </a:spcBef>
              <a:defRPr sz="1200">
                <a:solidFill>
                  <a:srgbClr val="18261E"/>
                </a:solidFill>
                <a:latin typeface="Segoe UI"/>
              </a:defRPr>
            </a:pPr>
            <a:r>
              <a:t>3. Tutupan Sangat Timpang (1% - 100%): Menuntut Stratified 5-Fold khusus agar sebaran kelas merata di semua lipatan.</a:t>
            </a:r>
          </a:p>
          <a:p>
            <a:pPr>
              <a:spcBef>
                <a:spcPts val="800"/>
              </a:spcBef>
              <a:defRPr sz="1200">
                <a:solidFill>
                  <a:srgbClr val="18261E"/>
                </a:solidFill>
                <a:latin typeface="Segoe UI"/>
              </a:defRPr>
            </a:pPr>
            <a:r>
              <a:t>4. Kerancuan Visual Pematang: Saluran irigasi, pematang sempit (1–2 px), dan genangan air awal tanam mirip tambak ikan.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SOLUSI REKAYASA: </a:t>
            </a:r>
            <a:r>
              <a:rPr sz="2000" b="1">
                <a:solidFill>
                  <a:srgbClr val="103524"/>
                </a:solidFill>
                <a:latin typeface="Segoe UI"/>
              </a:rPr>
              <a:t>PENANGANAN 6 TANTANGAN DATA SECARA DETERMINISTIK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Setiap kendala fisik dataset satelit dipasangkan dengan mitigasi rekayasa yang teruji bebas leakage.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2591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10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TANTANGAN KARAKTERISTIK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50876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SOLUSI REKAYASA &amp; JUSTIFIKASI TEKNIS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0725912" cy="12700"/>
          </a:xfrm>
          <a:prstGeom prst="rect">
            <a:avLst/>
          </a:prstGeom>
          <a:solidFill>
            <a:srgbClr val="E2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7568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8261E"/>
                </a:solidFill>
                <a:latin typeface="Segoe UI"/>
              </a:defRPr>
            </a:pPr>
            <a:r>
              <a:t>NoData Hitam ±19% (0% sawah di area ini)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075688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3524"/>
                </a:solidFill>
                <a:latin typeface="Segoe UI"/>
              </a:defRPr>
            </a:pPr>
            <a:r>
              <a:t>Zeroing Deterministik pada piksel [0,0,0] (Rule D-002)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70048"/>
            <a:ext cx="10725912" cy="12700"/>
          </a:xfrm>
          <a:prstGeom prst="rect">
            <a:avLst/>
          </a:prstGeom>
          <a:solidFill>
            <a:srgbClr val="E2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79776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8261E"/>
                </a:solidFill>
                <a:latin typeface="Segoe UI"/>
              </a:defRPr>
            </a:pPr>
            <a:r>
              <a:t>Tutupan Sangat Timpang (1,15% - 99,98%)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779776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3524"/>
                </a:solidFill>
                <a:latin typeface="Segoe UI"/>
              </a:defRPr>
            </a:pPr>
            <a:r>
              <a:t>Stratified 5-Fold berbasis kuantil tutupan sawah (35,2% - 39,2% per fold)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74136"/>
            <a:ext cx="10725912" cy="12700"/>
          </a:xfrm>
          <a:prstGeom prst="rect">
            <a:avLst/>
          </a:prstGeom>
          <a:solidFill>
            <a:srgbClr val="E2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483864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8261E"/>
                </a:solidFill>
                <a:latin typeface="Segoe UI"/>
              </a:defRPr>
            </a:pPr>
            <a:r>
              <a:t>Dataset Kecil (123 Tile Latih)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483864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3524"/>
                </a:solidFill>
                <a:latin typeface="Segoe UI"/>
              </a:defRPr>
            </a:pPr>
            <a:r>
              <a:t>Augmentasi D4 (rotasi 4 sudut, flip), crop acak 512, D4 TTA saat inferensi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78224"/>
            <a:ext cx="10725912" cy="12700"/>
          </a:xfrm>
          <a:prstGeom prst="rect">
            <a:avLst/>
          </a:prstGeom>
          <a:solidFill>
            <a:srgbClr val="E2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87952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8261E"/>
                </a:solidFill>
                <a:latin typeface="Segoe UI"/>
              </a:defRPr>
            </a:pPr>
            <a:r>
              <a:t>Warna Spektral Pleiades Gelap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187952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3524"/>
                </a:solidFill>
                <a:latin typeface="Segoe UI"/>
              </a:defRPr>
            </a:pPr>
            <a:r>
              <a:t>Normalisasi mean/std empiris Pleiades; Uji Kolmogorov-Smirnov train-test &lt; 0,05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782312"/>
            <a:ext cx="10725912" cy="12700"/>
          </a:xfrm>
          <a:prstGeom prst="rect">
            <a:avLst/>
          </a:prstGeom>
          <a:solidFill>
            <a:srgbClr val="E2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8920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8261E"/>
                </a:solidFill>
                <a:latin typeface="Segoe UI"/>
              </a:defRPr>
            </a:pPr>
            <a:r>
              <a:t>Format Evaluasi RLE Lomba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8920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3524"/>
                </a:solidFill>
                <a:latin typeface="Segoe UI"/>
              </a:defRPr>
            </a:pPr>
            <a:r>
              <a:t>Validasi encoding RLE kolom-mayor Airbus; lossless roundtrip 100% identik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486400"/>
            <a:ext cx="10725912" cy="12700"/>
          </a:xfrm>
          <a:prstGeom prst="rect">
            <a:avLst/>
          </a:prstGeom>
          <a:solidFill>
            <a:srgbClr val="E2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59612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8261E"/>
                </a:solidFill>
                <a:latin typeface="Segoe UI"/>
              </a:defRPr>
            </a:pPr>
            <a:r>
              <a:t>Ketiadaan Kanal Near-Infrared (NIR)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5596128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3524"/>
                </a:solidFill>
                <a:latin typeface="Segoe UI"/>
              </a:defRPr>
            </a:pPr>
            <a:r>
              <a:t>Substitusi NGRDI (+0,032 vs +0,015) &amp; pemanfaatan fitur spasial tekstur mendalam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DIVERSIFIKASI MODEL: </a:t>
            </a:r>
            <a:r>
              <a:rPr sz="2000" b="1">
                <a:solidFill>
                  <a:srgbClr val="103524"/>
                </a:solidFill>
                <a:latin typeface="Segoe UI"/>
              </a:rPr>
              <a:t>ENSEMBLE 4 ARSITEKTUR MULTI-FAMILI SALING MELENGKAPI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Menggabungkan keunggulan CNN atensi kanal, compound scaling, multiscale ASPP, dan hierarchical transformer.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00200"/>
            <a:ext cx="2176272" cy="365760"/>
          </a:xfrm>
          <a:prstGeom prst="roundRect">
            <a:avLst/>
          </a:prstGeom>
          <a:solidFill>
            <a:srgbClr val="E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3524"/>
                </a:solidFill>
                <a:latin typeface="Segoe UI"/>
              </a:defRPr>
            </a:pPr>
            <a:r>
              <a:t>ATENSI KANAL SPEKTRAL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1762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3524"/>
                </a:solidFill>
                <a:latin typeface="Segoe UI"/>
              </a:defRPr>
            </a:pPr>
            <a:r>
              <a:t>m3 U-Net</a:t>
            </a:r>
          </a:p>
          <a:p>
            <a:pPr>
              <a:defRPr sz="1300">
                <a:solidFill>
                  <a:srgbClr val="697A70"/>
                </a:solidFill>
                <a:latin typeface="Segoe UI"/>
              </a:defRPr>
            </a:pPr>
            <a:r>
              <a:t>SE-ResNeXt50</a:t>
            </a:r>
          </a:p>
          <a:p>
            <a:pPr>
              <a:spcBef>
                <a:spcPts val="1000"/>
              </a:spcBef>
              <a:defRPr sz="1600" b="1">
                <a:solidFill>
                  <a:srgbClr val="267344"/>
                </a:solidFill>
                <a:latin typeface="Segoe UI"/>
              </a:defRPr>
            </a:pPr>
            <a:r>
              <a:t>Mean IoU: 0.9103</a:t>
            </a:r>
          </a:p>
          <a:p>
            <a:pPr>
              <a:defRPr sz="1100">
                <a:solidFill>
                  <a:srgbClr val="697A70"/>
                </a:solidFill>
                <a:latin typeface="Segoe UI"/>
              </a:defRPr>
            </a:pPr>
            <a:r>
              <a:t>Params: 34.5M</a:t>
            </a:r>
          </a:p>
          <a:p>
            <a:pPr>
              <a:spcBef>
                <a:spcPts val="1200"/>
              </a:spcBef>
              <a:defRPr sz="1200">
                <a:solidFill>
                  <a:srgbClr val="18261E"/>
                </a:solidFill>
                <a:latin typeface="Segoe UI"/>
              </a:defRPr>
            </a:pPr>
            <a:r>
              <a:t>Squeeze-and-Excitation menimbang bobot kanal RGB secara adaptif untuk memisahkan vegetasi padi muda.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1732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39312" y="1600200"/>
            <a:ext cx="2176272" cy="365760"/>
          </a:xfrm>
          <a:prstGeom prst="roundRect">
            <a:avLst/>
          </a:prstGeom>
          <a:solidFill>
            <a:srgbClr val="E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3524"/>
                </a:solidFill>
                <a:latin typeface="Segoe UI"/>
              </a:defRPr>
            </a:pPr>
            <a:r>
              <a:t>COMPOUND SCALING EFISIEN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2103120"/>
            <a:ext cx="21762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3524"/>
                </a:solidFill>
                <a:latin typeface="Segoe UI"/>
              </a:defRPr>
            </a:pPr>
            <a:r>
              <a:t>m4 U-Net</a:t>
            </a:r>
          </a:p>
          <a:p>
            <a:pPr>
              <a:defRPr sz="1300">
                <a:solidFill>
                  <a:srgbClr val="697A70"/>
                </a:solidFill>
                <a:latin typeface="Segoe UI"/>
              </a:defRPr>
            </a:pPr>
            <a:r>
              <a:t>EfficientNet-B4</a:t>
            </a:r>
          </a:p>
          <a:p>
            <a:pPr>
              <a:spcBef>
                <a:spcPts val="1000"/>
              </a:spcBef>
              <a:defRPr sz="1600" b="1">
                <a:solidFill>
                  <a:srgbClr val="267344"/>
                </a:solidFill>
                <a:latin typeface="Segoe UI"/>
              </a:defRPr>
            </a:pPr>
            <a:r>
              <a:t>Mean IoU: 0.9041</a:t>
            </a:r>
          </a:p>
          <a:p>
            <a:pPr>
              <a:defRPr sz="1100">
                <a:solidFill>
                  <a:srgbClr val="697A70"/>
                </a:solidFill>
                <a:latin typeface="Segoe UI"/>
              </a:defRPr>
            </a:pPr>
            <a:r>
              <a:t>Params: 20.1M</a:t>
            </a:r>
          </a:p>
          <a:p>
            <a:pPr>
              <a:spcBef>
                <a:spcPts val="1200"/>
              </a:spcBef>
              <a:defRPr sz="1200">
                <a:solidFill>
                  <a:srgbClr val="18261E"/>
                </a:solidFill>
                <a:latin typeface="Segoe UI"/>
              </a:defRPr>
            </a:pPr>
            <a:r>
              <a:t>Keseimbangan kedalaman dan resolusi fitur; performa paling stabil dan rendah variansi di seluruh fold.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41732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64224" y="1600200"/>
            <a:ext cx="2176272" cy="365760"/>
          </a:xfrm>
          <a:prstGeom prst="roundRect">
            <a:avLst/>
          </a:prstGeom>
          <a:solidFill>
            <a:srgbClr val="E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3524"/>
                </a:solidFill>
                <a:latin typeface="Segoe UI"/>
              </a:defRPr>
            </a:pPr>
            <a:r>
              <a:t>KONTEKS MULTISKALA (ASPP)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103120"/>
            <a:ext cx="21762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3524"/>
                </a:solidFill>
                <a:latin typeface="Segoe UI"/>
              </a:defRPr>
            </a:pPr>
            <a:r>
              <a:t>m5 DeepLabV3+</a:t>
            </a:r>
          </a:p>
          <a:p>
            <a:pPr>
              <a:defRPr sz="1300">
                <a:solidFill>
                  <a:srgbClr val="697A70"/>
                </a:solidFill>
                <a:latin typeface="Segoe UI"/>
              </a:defRPr>
            </a:pPr>
            <a:r>
              <a:t>ResNeXt50</a:t>
            </a:r>
          </a:p>
          <a:p>
            <a:pPr>
              <a:spcBef>
                <a:spcPts val="1000"/>
              </a:spcBef>
              <a:defRPr sz="1600" b="1">
                <a:solidFill>
                  <a:srgbClr val="267344"/>
                </a:solidFill>
                <a:latin typeface="Segoe UI"/>
              </a:defRPr>
            </a:pPr>
            <a:r>
              <a:t>Mean IoU: 0.8997</a:t>
            </a:r>
          </a:p>
          <a:p>
            <a:pPr>
              <a:defRPr sz="1100">
                <a:solidFill>
                  <a:srgbClr val="697A70"/>
                </a:solidFill>
                <a:latin typeface="Segoe UI"/>
              </a:defRPr>
            </a:pPr>
            <a:r>
              <a:t>Params: 26.1M</a:t>
            </a:r>
          </a:p>
          <a:p>
            <a:pPr>
              <a:spcBef>
                <a:spcPts val="1200"/>
              </a:spcBef>
              <a:defRPr sz="1200">
                <a:solidFill>
                  <a:srgbClr val="18261E"/>
                </a:solidFill>
                <a:latin typeface="Segoe UI"/>
              </a:defRPr>
            </a:pPr>
            <a:r>
              <a:t>Atrous Spatial Pyramid Pooling efektif menangkap hamparan sawah makro (&gt;10.000 piksel) tanpa kehilangan resolusi.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41732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89136" y="1600200"/>
            <a:ext cx="2176272" cy="365760"/>
          </a:xfrm>
          <a:prstGeom prst="roundRect">
            <a:avLst/>
          </a:prstGeom>
          <a:solidFill>
            <a:srgbClr val="E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3524"/>
                </a:solidFill>
                <a:latin typeface="Segoe UI"/>
              </a:defRPr>
            </a:pPr>
            <a:r>
              <a:t>ATENSI GLOBAL TRANSFORMER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9136" y="2103120"/>
            <a:ext cx="21762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3524"/>
                </a:solidFill>
                <a:latin typeface="Segoe UI"/>
              </a:defRPr>
            </a:pPr>
            <a:r>
              <a:t>m7 MAnet</a:t>
            </a:r>
          </a:p>
          <a:p>
            <a:pPr>
              <a:defRPr sz="1300">
                <a:solidFill>
                  <a:srgbClr val="697A70"/>
                </a:solidFill>
                <a:latin typeface="Segoe UI"/>
              </a:defRPr>
            </a:pPr>
            <a:r>
              <a:t>MiT-B3</a:t>
            </a:r>
          </a:p>
          <a:p>
            <a:pPr>
              <a:spcBef>
                <a:spcPts val="1000"/>
              </a:spcBef>
              <a:defRPr sz="1600" b="1">
                <a:solidFill>
                  <a:srgbClr val="267344"/>
                </a:solidFill>
                <a:latin typeface="Segoe UI"/>
              </a:defRPr>
            </a:pPr>
            <a:r>
              <a:t>Mean IoU: 0.8894</a:t>
            </a:r>
          </a:p>
          <a:p>
            <a:pPr>
              <a:defRPr sz="1100">
                <a:solidFill>
                  <a:srgbClr val="697A70"/>
                </a:solidFill>
                <a:latin typeface="Segoe UI"/>
              </a:defRPr>
            </a:pPr>
            <a:r>
              <a:t>Params: 47.4M</a:t>
            </a:r>
          </a:p>
          <a:p>
            <a:pPr>
              <a:spcBef>
                <a:spcPts val="1200"/>
              </a:spcBef>
              <a:defRPr sz="1200">
                <a:solidFill>
                  <a:srgbClr val="18261E"/>
                </a:solidFill>
                <a:latin typeface="Segoe UI"/>
              </a:defRPr>
            </a:pPr>
            <a:r>
              <a:t>Vision Transformer berbasis Multi-Scale Attention memetakan relasi spasial saluran irigasi jarak jauh.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6035040"/>
            <a:ext cx="10725912" cy="50292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5E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6126479"/>
            <a:ext cx="102687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A67308"/>
                </a:solidFill>
                <a:latin typeface="Segoe UI"/>
              </a:defRPr>
            </a:pPr>
            <a:r>
              <a:t>Intinya: </a:t>
            </a:r>
            <a:r>
              <a:rPr sz="1250" b="0">
                <a:solidFill>
                  <a:srgbClr val="A67308"/>
                </a:solidFill>
                <a:latin typeface="Segoe UI"/>
              </a:rPr>
              <a:t>keempat arsitektur memiliki induktif bias berbeda sehingga kesalahan prediksinya saling meniadakan saat di-blend.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PIPELINE KOMPUTASI: </a:t>
            </a:r>
            <a:r>
              <a:rPr sz="2000" b="1">
                <a:solidFill>
                  <a:srgbClr val="103524"/>
                </a:solidFill>
                <a:latin typeface="Segoe UI"/>
              </a:rPr>
              <a:t>20 SIKLUS MODEL DENGAN D4 TEST-TIME AUGMENTATION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Arsitektur inferensi terkelola menggabungkan 4 model × 5 fold dengan 4 rotasi sudut tanpa penalti memori.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99339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600200"/>
            <a:ext cx="411480" cy="411480"/>
          </a:xfrm>
          <a:prstGeom prst="ellipse">
            <a:avLst/>
          </a:prstGeom>
          <a:solidFill>
            <a:srgbClr val="10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17190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3524"/>
                </a:solidFill>
                <a:latin typeface="Segoe UI"/>
              </a:defRPr>
            </a:pPr>
            <a:r>
              <a:t>1. Ingesti &amp; Normalisasi</a:t>
            </a:r>
          </a:p>
          <a:p>
            <a:pPr>
              <a:spcBef>
                <a:spcPts val="600"/>
              </a:spcBef>
              <a:defRPr sz="1100">
                <a:solidFill>
                  <a:srgbClr val="18261E"/>
                </a:solidFill>
                <a:latin typeface="Segoe UI"/>
              </a:defRPr>
            </a:pPr>
            <a:r>
              <a:t>Pleiades 1024×1024 RGB dinormalisasi statistik dataset spesifik.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417320"/>
            <a:ext cx="199339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090672" y="1600200"/>
            <a:ext cx="411480" cy="411480"/>
          </a:xfrm>
          <a:prstGeom prst="ellipse">
            <a:avLst/>
          </a:prstGeom>
          <a:solidFill>
            <a:srgbClr val="10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4952" y="2103120"/>
            <a:ext cx="17190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3524"/>
                </a:solidFill>
                <a:latin typeface="Segoe UI"/>
              </a:defRPr>
            </a:pPr>
            <a:r>
              <a:t>2. Encoders Multiskala</a:t>
            </a:r>
          </a:p>
          <a:p>
            <a:pPr>
              <a:spcBef>
                <a:spcPts val="600"/>
              </a:spcBef>
              <a:defRPr sz="1100">
                <a:solidFill>
                  <a:srgbClr val="18261E"/>
                </a:solidFill>
                <a:latin typeface="Segoe UI"/>
              </a:defRPr>
            </a:pPr>
            <a:r>
              <a:t>Ekstraksi fitur hierarkis: kanal SE, EfficientNet, ASPP, &amp; Transformer MiT.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417320"/>
            <a:ext cx="199339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66944" y="1600200"/>
            <a:ext cx="411480" cy="411480"/>
          </a:xfrm>
          <a:prstGeom prst="ellipse">
            <a:avLst/>
          </a:prstGeom>
          <a:solidFill>
            <a:srgbClr val="10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1224" y="2103120"/>
            <a:ext cx="17190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3524"/>
                </a:solidFill>
                <a:latin typeface="Segoe UI"/>
              </a:defRPr>
            </a:pPr>
            <a:r>
              <a:t>3. Decoders &amp; Skips</a:t>
            </a:r>
          </a:p>
          <a:p>
            <a:pPr>
              <a:spcBef>
                <a:spcPts val="600"/>
              </a:spcBef>
              <a:defRPr sz="1100">
                <a:solidFill>
                  <a:srgbClr val="18261E"/>
                </a:solidFill>
                <a:latin typeface="Segoe UI"/>
              </a:defRPr>
            </a:pPr>
            <a:r>
              <a:t>Rekonstruksi resolusi penuh dengan koneksi skip feature map beresolusi tinggi.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1417320"/>
            <a:ext cx="199339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43216" y="1600200"/>
            <a:ext cx="411480" cy="411480"/>
          </a:xfrm>
          <a:prstGeom prst="ellipse">
            <a:avLst/>
          </a:prstGeom>
          <a:solidFill>
            <a:srgbClr val="10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7496" y="2103120"/>
            <a:ext cx="17190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3524"/>
                </a:solidFill>
                <a:latin typeface="Segoe UI"/>
              </a:defRPr>
            </a:pPr>
            <a:r>
              <a:t>4. Logit Space Blending</a:t>
            </a:r>
          </a:p>
          <a:p>
            <a:pPr>
              <a:spcBef>
                <a:spcPts val="600"/>
              </a:spcBef>
              <a:defRPr sz="1100">
                <a:solidFill>
                  <a:srgbClr val="18261E"/>
                </a:solidFill>
                <a:latin typeface="Segoe UI"/>
              </a:defRPr>
            </a:pPr>
            <a:r>
              <a:t>Transformasi unconstrained logit z = Σ w_m ln(p/(1-p)) 20 model OOF.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6608" y="1417320"/>
            <a:ext cx="199339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19488" y="1600200"/>
            <a:ext cx="411480" cy="411480"/>
          </a:xfrm>
          <a:prstGeom prst="ellipse">
            <a:avLst/>
          </a:prstGeom>
          <a:solidFill>
            <a:srgbClr val="10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3768" y="2103120"/>
            <a:ext cx="17190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3524"/>
                </a:solidFill>
                <a:latin typeface="Segoe UI"/>
              </a:defRPr>
            </a:pPr>
            <a:r>
              <a:t>5. Post-Processing Presisi</a:t>
            </a:r>
          </a:p>
          <a:p>
            <a:pPr>
              <a:spcBef>
                <a:spcPts val="600"/>
              </a:spcBef>
              <a:defRPr sz="1100">
                <a:solidFill>
                  <a:srgbClr val="18261E"/>
                </a:solidFill>
                <a:latin typeface="Segoe UI"/>
              </a:defRPr>
            </a:pPr>
            <a:r>
              <a:t>Kalibrasi threshold adaptif &amp; NoData hard zeroing [0,0,0]=0.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77639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114800"/>
            <a:ext cx="29260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TOTAL MODEL CHECKPOINT</a:t>
            </a:r>
          </a:p>
          <a:p>
            <a:pPr>
              <a:spcBef>
                <a:spcPts val="200"/>
              </a:spcBef>
              <a:defRPr sz="2700" b="1">
                <a:solidFill>
                  <a:srgbClr val="103524"/>
                </a:solidFill>
                <a:latin typeface="Segoe UI"/>
              </a:defRPr>
            </a:pPr>
            <a:r>
              <a:t>20 Model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4 arsitektur × 5 fold validasi penuh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977639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114800"/>
            <a:ext cx="29260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WAKTU KOMPUTASI GPU</a:t>
            </a:r>
          </a:p>
          <a:p>
            <a:pPr>
              <a:spcBef>
                <a:spcPts val="200"/>
              </a:spcBef>
              <a:defRPr sz="2700" b="1">
                <a:solidFill>
                  <a:srgbClr val="267344"/>
                </a:solidFill>
                <a:latin typeface="Segoe UI"/>
              </a:defRPr>
            </a:pPr>
            <a:r>
              <a:t>±61,1 Menit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NVIDIA GeForce RTX 5070 (12 GB VRAM FP16)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977639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4114800"/>
            <a:ext cx="29260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REPRODUSIBILITAS PENUH</a:t>
            </a:r>
          </a:p>
          <a:p>
            <a:pPr>
              <a:spcBef>
                <a:spcPts val="200"/>
              </a:spcBef>
              <a:defRPr sz="2700" b="1">
                <a:solidFill>
                  <a:srgbClr val="103524"/>
                </a:solidFill>
                <a:latin typeface="Segoe UI"/>
              </a:defRPr>
            </a:pPr>
            <a:r>
              <a:t>Seed 42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Semua seed dikunci deterministik tanpa fluktuasi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532120"/>
            <a:ext cx="10725912" cy="50292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5E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623559"/>
            <a:ext cx="102687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A67308"/>
                </a:solidFill>
                <a:latin typeface="Segoe UI"/>
              </a:defRPr>
            </a:pPr>
            <a:r>
              <a:t>Intinya: </a:t>
            </a:r>
            <a:r>
              <a:rPr sz="1250" b="0">
                <a:solidFill>
                  <a:srgbClr val="A67308"/>
                </a:solidFill>
                <a:latin typeface="Segoe UI"/>
              </a:rPr>
              <a:t>jalur inferensi terkelola cache menghasilkan submission.csv instan tanpa perlu komputasi ulang 15 menit.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KONSISTENSI 5-FOLD: </a:t>
            </a:r>
            <a:r>
              <a:rPr sz="2000" b="1">
                <a:solidFill>
                  <a:srgbClr val="103524"/>
                </a:solidFill>
                <a:latin typeface="Segoe UI"/>
              </a:rPr>
              <a:t>STABILITAS TINGGI ANTAR LIPATAN TANPA OVERFITTING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Evaluasi silang 5-fold membuktikan kapabilitas generalisasi kokoh dengan simpangan baku sangat rendah.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858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ge_7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667512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417320"/>
            <a:ext cx="3566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155448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RERATA 5-FOLD MODEL TERBAIK</a:t>
            </a:r>
          </a:p>
          <a:p>
            <a:pPr>
              <a:spcBef>
                <a:spcPts val="200"/>
              </a:spcBef>
              <a:defRPr sz="2700" b="1">
                <a:solidFill>
                  <a:srgbClr val="103524"/>
                </a:solidFill>
                <a:latin typeface="Segoe UI"/>
              </a:defRPr>
            </a:pPr>
            <a:r>
              <a:t>0,9103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m3 U-Net SE-ResNeXt50 memimpin di 5 fold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971800"/>
            <a:ext cx="3566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310896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SIMPANGAN BAKU ANTAR FOLD</a:t>
            </a:r>
          </a:p>
          <a:p>
            <a:pPr>
              <a:spcBef>
                <a:spcPts val="200"/>
              </a:spcBef>
              <a:defRPr sz="2700" b="1">
                <a:solidFill>
                  <a:srgbClr val="267344"/>
                </a:solidFill>
                <a:latin typeface="Segoe UI"/>
              </a:defRPr>
            </a:pPr>
            <a:r>
              <a:t>±0,015 – 0,022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Variansi sangat rendah membuktikan tidak overfit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526280"/>
            <a:ext cx="3566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466344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VALIDASI BEBAS LEAKAGE</a:t>
            </a:r>
          </a:p>
          <a:p>
            <a:pPr>
              <a:spcBef>
                <a:spcPts val="200"/>
              </a:spcBef>
              <a:defRPr sz="2700" b="1">
                <a:solidFill>
                  <a:srgbClr val="103524"/>
                </a:solidFill>
                <a:latin typeface="Segoe UI"/>
              </a:defRPr>
            </a:pPr>
            <a:r>
              <a:t>123 Tile OOF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Seluruh citra latih tervalidasi out-of-fold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FITTING &amp; TUNING: </a:t>
            </a:r>
            <a:r>
              <a:rPr sz="2000" b="1">
                <a:solidFill>
                  <a:srgbClr val="103524"/>
                </a:solidFill>
                <a:latin typeface="Segoe UI"/>
              </a:rPr>
              <a:t>OPTIMASI NELDER-MEAD OOF BEBAS DATA LEAKAGE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Bobot ensemble dan ambang batas keputusan global dikalibrasi simultan pada data validasi Out-of-Fold.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ing_fol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507492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417320"/>
            <a:ext cx="523951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3524"/>
                </a:solidFill>
                <a:latin typeface="Segoe UI"/>
              </a:defRPr>
            </a:pPr>
            <a:r>
              <a:t>Fitting: Protokol Pelatihan Fold 0</a:t>
            </a:r>
          </a:p>
          <a:p>
            <a:pPr>
              <a:spcBef>
                <a:spcPts val="400"/>
              </a:spcBef>
              <a:defRPr sz="1200">
                <a:solidFill>
                  <a:srgbClr val="18261E"/>
                </a:solidFill>
                <a:latin typeface="Segoe UI"/>
              </a:defRPr>
            </a:pPr>
            <a:r>
              <a:t>• Compound Loss: 0,5 × BCEWithLogits + 0,5 × SoftDiceLoss.</a:t>
            </a:r>
          </a:p>
          <a:p>
            <a:pPr>
              <a:spcBef>
                <a:spcPts val="400"/>
              </a:spcBef>
              <a:defRPr sz="1200">
                <a:solidFill>
                  <a:srgbClr val="18261E"/>
                </a:solidFill>
                <a:latin typeface="Segoe UI"/>
              </a:defRPr>
            </a:pPr>
            <a:r>
              <a:t>• Optimizer AdamW (lr=3e-4, weight_decay=1e-4) dengan CosineAnnealing.</a:t>
            </a:r>
          </a:p>
          <a:p>
            <a:pPr>
              <a:spcBef>
                <a:spcPts val="400"/>
              </a:spcBef>
              <a:defRPr sz="1200">
                <a:solidFill>
                  <a:srgbClr val="18261E"/>
                </a:solidFill>
                <a:latin typeface="Segoe UI"/>
              </a:defRPr>
            </a:pPr>
            <a:r>
              <a:t>• Skrining 7 Model: Mask2Former query-based terbukti tidak stabil pada 123 tile; 4 model teratas dipilih untuk 5-fold penuh.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03320"/>
            <a:ext cx="5239512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3840480"/>
            <a:ext cx="4709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7344"/>
                </a:solidFill>
                <a:latin typeface="Segoe UI"/>
              </a:defRPr>
            </a:pPr>
            <a:r>
              <a:t>Tuning: Optimasi Nelder-Mead OOF (Float32)</a:t>
            </a:r>
          </a:p>
          <a:p>
            <a:pPr>
              <a:spcBef>
                <a:spcPts val="400"/>
              </a:spcBef>
              <a:defRPr sz="1200">
                <a:solidFill>
                  <a:srgbClr val="18261E"/>
                </a:solidFill>
                <a:latin typeface="Segoe UI"/>
              </a:defRPr>
            </a:pPr>
            <a:r>
              <a:t>• Simplex Nelder-Mead memaksimalkan Micro-IoU langsung pada validasi OOF.</a:t>
            </a:r>
          </a:p>
          <a:p>
            <a:pPr>
              <a:spcBef>
                <a:spcPts val="400"/>
              </a:spcBef>
              <a:defRPr sz="1200">
                <a:solidFill>
                  <a:srgbClr val="18261E"/>
                </a:solidFill>
                <a:latin typeface="Segoe UI"/>
              </a:defRPr>
            </a:pPr>
            <a:r>
              <a:t>• Bobot Optimal Terkonfirmasi:</a:t>
            </a:r>
            <a:br/>
            <a:r>
              <a:t>  • m3 (U-Net SE-ResNeXt50) : 0,3690 (36,9%)</a:t>
            </a:r>
            <a:br/>
            <a:r>
              <a:t>  • m4 (U-Net EffNet-B4)    : 0,2529 (25,3%)</a:t>
            </a:r>
            <a:br/>
            <a:r>
              <a:t>  • m5 (DeepLabV3+ ResNeXt) : 0,2225 (22,3%)</a:t>
            </a:r>
            <a:br/>
            <a:r>
              <a:t>  • m7 (MAnet MiT-B3)       : 0,1556 (15,6%)</a:t>
            </a:r>
          </a:p>
          <a:p>
            <a:pPr>
              <a:spcBef>
                <a:spcPts val="400"/>
              </a:spcBef>
              <a:defRPr sz="1200">
                <a:solidFill>
                  <a:srgbClr val="18261E"/>
                </a:solidFill>
                <a:latin typeface="Segoe UI"/>
              </a:defRPr>
            </a:pPr>
            <a:r>
              <a:t>• Ambang Batas Optimal: τ = 0,4652 (Bukan default 0,50)</a:t>
            </a:r>
          </a:p>
          <a:p>
            <a:pPr>
              <a:spcBef>
                <a:spcPts val="400"/>
              </a:spcBef>
              <a:defRPr sz="1200">
                <a:solidFill>
                  <a:srgbClr val="18261E"/>
                </a:solidFill>
                <a:latin typeface="Segoe UI"/>
              </a:defRPr>
            </a:pPr>
            <a:r>
              <a:t>• Optimal OOF Micro-IoU = 0,9178 (Tervalidasi bebas leakage)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STUDI ABLASI: </a:t>
            </a:r>
            <a:r>
              <a:rPr sz="2000" b="1">
                <a:solidFill>
                  <a:srgbClr val="103524"/>
                </a:solidFill>
                <a:latin typeface="Segoe UI"/>
              </a:rPr>
              <a:t>KENAIKAN SKOR EMPIRIS BERTAHAP TANPA REGRESI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Setiap tahapan perpaduan dihitung langsung dari array OOF dan konsisten memberikan kontribusi positif.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486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blation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530352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92240" y="1417320"/>
            <a:ext cx="49377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554480"/>
            <a:ext cx="4480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EQUAL PROBABILITY AVERAGE</a:t>
            </a:r>
          </a:p>
          <a:p>
            <a:pPr>
              <a:spcBef>
                <a:spcPts val="200"/>
              </a:spcBef>
              <a:defRPr sz="2700" b="1">
                <a:solidFill>
                  <a:srgbClr val="103524"/>
                </a:solidFill>
                <a:latin typeface="Segoe UI"/>
              </a:defRPr>
            </a:pPr>
            <a:r>
              <a:t>+0,0068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4 Model @ τ=0,50 : IoU 0,9100 → 0,9168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971800"/>
            <a:ext cx="49377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3108960"/>
            <a:ext cx="4480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EQUAL LOGIT-SPACE BLEND</a:t>
            </a:r>
          </a:p>
          <a:p>
            <a:pPr>
              <a:spcBef>
                <a:spcPts val="200"/>
              </a:spcBef>
              <a:defRPr sz="2700" b="1">
                <a:solidFill>
                  <a:srgbClr val="267344"/>
                </a:solidFill>
                <a:latin typeface="Segoe UI"/>
              </a:defRPr>
            </a:pPr>
            <a:r>
              <a:t>+0,0004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Unconstrained Logit @ opt τ : IoU 0,9168 → 0,9172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526280"/>
            <a:ext cx="49377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4663440"/>
            <a:ext cx="4480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NELDER-MEAD WEIGHTED BLEND</a:t>
            </a:r>
          </a:p>
          <a:p>
            <a:pPr>
              <a:spcBef>
                <a:spcPts val="200"/>
              </a:spcBef>
              <a:defRPr sz="2700" b="1">
                <a:solidFill>
                  <a:srgbClr val="103524"/>
                </a:solidFill>
                <a:latin typeface="Segoe UI"/>
              </a:defRPr>
            </a:pPr>
            <a:r>
              <a:t>+0,0006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Bobot optimal OOF @ opt τ : IoU 0,9172 → 0,9178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6035040"/>
            <a:ext cx="4937760" cy="50292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5E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6126479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A67308"/>
                </a:solidFill>
                <a:latin typeface="Segoe UI"/>
              </a:defRPr>
            </a:pPr>
            <a:r>
              <a:t>Intinya: </a:t>
            </a:r>
            <a:r>
              <a:rPr sz="1250" b="0">
                <a:solidFill>
                  <a:srgbClr val="A67308"/>
                </a:solidFill>
                <a:latin typeface="Segoe UI"/>
              </a:rPr>
              <a:t>total peningkatan +0,78% membuktikan ensemble multi-famili tidak mengalami regresi.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DIAGNOSTIK PREDIKSI: </a:t>
            </a:r>
            <a:r>
              <a:rPr sz="2000" b="1">
                <a:solidFill>
                  <a:srgbClr val="103524"/>
                </a:solidFill>
                <a:latin typeface="Segoe UI"/>
              </a:rPr>
              <a:t>PETA KETIDAKPASTIAN SPASIAL &amp; HASIL LEADERBOARD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Disparitas antar model terisolasi ketat pada pematang tipis; hasil Private Leaderboard melonjak +5 peringkat.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4864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ge_10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530352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064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97A70"/>
                </a:solidFill>
                <a:latin typeface="Segoe UI"/>
              </a:defRPr>
            </a:pPr>
            <a:r>
              <a:t>Peta ketidakpastian (kanan): deviasi model hanya muncul pada saluran irigasi selebar 1-2 px; di sini verifikasi lapangan diarahkan.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49377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554480"/>
            <a:ext cx="4480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PUBLIC LEADERBOARD (55% SLICE)</a:t>
            </a:r>
          </a:p>
          <a:p>
            <a:pPr>
              <a:spcBef>
                <a:spcPts val="200"/>
              </a:spcBef>
              <a:defRPr sz="2700" b="1">
                <a:solidFill>
                  <a:srgbClr val="103524"/>
                </a:solidFill>
                <a:latin typeface="Segoe UI"/>
              </a:defRPr>
            </a:pPr>
            <a:r>
              <a:t>0,78169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Peringkat 7 nasional pada pengujian publik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971800"/>
            <a:ext cx="4937760" cy="1325880"/>
          </a:xfrm>
          <a:prstGeom prst="roundRect">
            <a:avLst/>
          </a:prstGeom>
          <a:solidFill>
            <a:srgbClr val="EBF7EE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3108960"/>
            <a:ext cx="4480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PRIVATE LEADERBOARD (45% SLICE)</a:t>
            </a:r>
          </a:p>
          <a:p>
            <a:pPr>
              <a:spcBef>
                <a:spcPts val="200"/>
              </a:spcBef>
              <a:defRPr sz="2700" b="1">
                <a:solidFill>
                  <a:srgbClr val="267344"/>
                </a:solidFill>
                <a:latin typeface="Segoe UI"/>
              </a:defRPr>
            </a:pPr>
            <a:r>
              <a:t>0,68965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Peringkat 2 Nasional (Runner-Up) — NAIK +5 POSISI!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526280"/>
            <a:ext cx="49377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4663440"/>
            <a:ext cx="4480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RERATA TUTUPAN PREDIKSI UJI</a:t>
            </a:r>
          </a:p>
          <a:p>
            <a:pPr>
              <a:spcBef>
                <a:spcPts val="200"/>
              </a:spcBef>
              <a:defRPr sz="2700" b="1">
                <a:solidFill>
                  <a:srgbClr val="103524"/>
                </a:solidFill>
                <a:latin typeface="Segoe UI"/>
              </a:defRPr>
            </a:pPr>
            <a:r>
              <a:t>44,3%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Konsisten dengan karakteristik regional Banten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6035040"/>
            <a:ext cx="4937760" cy="50292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5E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6126479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A67308"/>
                </a:solidFill>
                <a:latin typeface="Segoe UI"/>
              </a:defRPr>
            </a:pPr>
            <a:r>
              <a:t>Intinya: </a:t>
            </a:r>
            <a:r>
              <a:rPr sz="1250" b="0">
                <a:solidFill>
                  <a:srgbClr val="A67308"/>
                </a:solidFill>
                <a:latin typeface="Segoe UI"/>
              </a:rPr>
              <a:t>kenaikan +5 posisi membuktikan model tidak overfit dan memiliki generalisasi tertinggi pada data baru.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REKOMENDASI KEBIJAKAN: </a:t>
            </a:r>
            <a:r>
              <a:rPr sz="2000" b="1">
                <a:solidFill>
                  <a:srgbClr val="103524"/>
                </a:solidFill>
                <a:latin typeface="Segoe UI"/>
              </a:rPr>
              <a:t>3 PILAR STRATEGIS IMPLEMENTASI KETAHANAN PANGAN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Solusi segmentasi satelit ini menjembatani disparitas data dan mendukung kebijakan berbasis bukti.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645920"/>
            <a:ext cx="457200" cy="457200"/>
          </a:xfrm>
          <a:prstGeom prst="ellipse">
            <a:avLst/>
          </a:prstGeom>
          <a:solidFill>
            <a:srgbClr val="10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2880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3524"/>
                </a:solidFill>
                <a:latin typeface="Segoe UI"/>
              </a:defRPr>
            </a:pPr>
            <a:r>
              <a:t>Pemantauan Alih Fungsi Lahan</a:t>
            </a:r>
          </a:p>
          <a:p>
            <a:pPr>
              <a:spcBef>
                <a:spcPts val="1000"/>
              </a:spcBef>
              <a:defRPr sz="1250">
                <a:solidFill>
                  <a:srgbClr val="18261E"/>
                </a:solidFill>
                <a:latin typeface="Segoe UI"/>
              </a:defRPr>
            </a:pPr>
            <a:r>
              <a:t>• Luas baku sawah Banten turun 194 → 187 ribu ha (2026); data alih fungsi 2011–2025 didorong terbuka.</a:t>
            </a:r>
          </a:p>
          <a:p>
            <a:pPr>
              <a:spcBef>
                <a:spcPts val="1000"/>
              </a:spcBef>
              <a:defRPr sz="1250">
                <a:solidFill>
                  <a:srgbClr val="18261E"/>
                </a:solidFill>
                <a:latin typeface="Segoe UI"/>
              </a:defRPr>
            </a:pPr>
            <a:r>
              <a:t>• Model dijalankan berkala pada citra multi-tahun untuk memetakan laju konversi sawah ke kawasan industri &amp; perumahan.</a:t>
            </a:r>
          </a:p>
          <a:p>
            <a:pPr>
              <a:spcBef>
                <a:spcPts val="1000"/>
              </a:spcBef>
              <a:defRPr sz="1250">
                <a:solidFill>
                  <a:srgbClr val="18261E"/>
                </a:solidFill>
                <a:latin typeface="Segoe UI"/>
              </a:defRPr>
            </a:pPr>
            <a:r>
              <a:t>• Status: Rancangan awal, siap diuji dengan pasokan citra historis berkala.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417320"/>
            <a:ext cx="3429000" cy="4846320"/>
          </a:xfrm>
          <a:prstGeom prst="roundRect">
            <a:avLst/>
          </a:prstGeom>
          <a:solidFill>
            <a:srgbClr val="EBF7EE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54296" y="1645920"/>
            <a:ext cx="457200" cy="457200"/>
          </a:xfrm>
          <a:prstGeom prst="ellipse">
            <a:avLst/>
          </a:prstGeom>
          <a:solidFill>
            <a:srgbClr val="10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296" y="2240280"/>
            <a:ext cx="2880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3524"/>
                </a:solidFill>
                <a:latin typeface="Segoe UI"/>
              </a:defRPr>
            </a:pPr>
            <a:r>
              <a:t>Akurasi Penyaluran Pupuk Subsidi</a:t>
            </a:r>
          </a:p>
          <a:p>
            <a:pPr>
              <a:spcBef>
                <a:spcPts val="1000"/>
              </a:spcBef>
              <a:defRPr sz="1250">
                <a:solidFill>
                  <a:srgbClr val="18261E"/>
                </a:solidFill>
                <a:latin typeface="Segoe UI"/>
              </a:defRPr>
            </a:pPr>
            <a:r>
              <a:t>• Disparitas luasan sawah 2018 (7,1 juta ha) memangkas pupuk dari 9,55 → 8,8 juta ton, memicu kelangkaan petani.</a:t>
            </a:r>
          </a:p>
          <a:p>
            <a:pPr>
              <a:spcBef>
                <a:spcPts val="1000"/>
              </a:spcBef>
              <a:defRPr sz="1250">
                <a:solidFill>
                  <a:srgbClr val="18261E"/>
                </a:solidFill>
                <a:latin typeface="Segoe UI"/>
              </a:defRPr>
            </a:pPr>
            <a:r>
              <a:t>• Verifikasi 2020 (7,46 juta ha) menuntut tambahan anggaran subsidi 1 juta ton senilai Rp3,1 Triliun.</a:t>
            </a:r>
          </a:p>
          <a:p>
            <a:pPr>
              <a:spcBef>
                <a:spcPts val="1000"/>
              </a:spcBef>
              <a:defRPr sz="1250">
                <a:solidFill>
                  <a:srgbClr val="18261E"/>
                </a:solidFill>
                <a:latin typeface="Segoe UI"/>
              </a:defRPr>
            </a:pPr>
            <a:r>
              <a:t>• Segmentasi objektif model mencegah defisit pupuk dan mengoptimalkan anggaran negara.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41732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02752" y="1645920"/>
            <a:ext cx="457200" cy="457200"/>
          </a:xfrm>
          <a:prstGeom prst="ellipse">
            <a:avLst/>
          </a:prstGeom>
          <a:solidFill>
            <a:srgbClr val="10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240280"/>
            <a:ext cx="2880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3524"/>
                </a:solidFill>
                <a:latin typeface="Segoe UI"/>
              </a:defRPr>
            </a:pPr>
            <a:r>
              <a:t>Validasi Silang Data e-RDKK &amp; KSA</a:t>
            </a:r>
          </a:p>
          <a:p>
            <a:pPr>
              <a:spcBef>
                <a:spcPts val="1000"/>
              </a:spcBef>
              <a:defRPr sz="1250">
                <a:solidFill>
                  <a:srgbClr val="18261E"/>
                </a:solidFill>
                <a:latin typeface="Segoe UI"/>
              </a:defRPr>
            </a:pPr>
            <a:r>
              <a:t>• Temuan Mentan 2018: 92% sampel KSA citra satelit lama tidak akurat dengan selisih 1.037.800 ha.</a:t>
            </a:r>
          </a:p>
          <a:p>
            <a:pPr>
              <a:spcBef>
                <a:spcPts val="1000"/>
              </a:spcBef>
              <a:defRPr sz="1250">
                <a:solidFill>
                  <a:srgbClr val="18261E"/>
                </a:solidFill>
                <a:latin typeface="Segoe UI"/>
              </a:defRPr>
            </a:pPr>
            <a:r>
              <a:t>• Ombudsman 2022: Data e-RDKK sering memuat data luasan sawah homogen dan tidak terkalibrasi.</a:t>
            </a:r>
          </a:p>
          <a:p>
            <a:pPr>
              <a:spcBef>
                <a:spcPts val="1000"/>
              </a:spcBef>
              <a:defRPr sz="1250">
                <a:solidFill>
                  <a:srgbClr val="18261E"/>
                </a:solidFill>
                <a:latin typeface="Segoe UI"/>
              </a:defRPr>
            </a:pPr>
            <a:r>
              <a:t>• Model satelit resolusi 0,5m ini menjadi auditor independen untuk menandai poligon janggal secara otomatis.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print_grid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52C47E"/>
                </a:solidFill>
                <a:latin typeface="Segoe UI"/>
              </a:defRPr>
            </a:pPr>
            <a:r>
              <a:t>KESIMPULAN AKHIR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Ensemble 4 Arsitektur Terbukti Tangguh,</a:t>
            </a:r>
            <a:br/>
            <a:r>
              <a:t>Bebas Leakage, dan Naik +5 Peringkat.</a:t>
            </a:r>
          </a:p>
          <a:p>
            <a:pPr>
              <a:spcBef>
                <a:spcPts val="800"/>
              </a:spcBef>
              <a:defRPr sz="1600">
                <a:solidFill>
                  <a:srgbClr val="D2EBDC"/>
                </a:solidFill>
                <a:latin typeface="Segoe UI"/>
              </a:defRPr>
            </a:pPr>
            <a:r>
              <a:t>Solusi didukung oleh optimasi ruang logit OOF murni, kalibrasi threshold adaptif, dan evaluasi ketidakpastian spasial.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91840"/>
            <a:ext cx="10543032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3524"/>
                </a:solidFill>
                <a:latin typeface="Segoe UI"/>
              </a:defRPr>
            </a:pPr>
            <a:r>
              <a:t>Langkah Berikutnya: Pilot Implementasi Bersama Dinas Pertanian Banten &amp; BPS.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spcBef>
                <a:spcPts val="600"/>
              </a:spcBef>
              <a:defRPr sz="1600">
                <a:solidFill>
                  <a:srgbClr val="52C47E"/>
                </a:solidFill>
                <a:latin typeface="Segoe UI"/>
              </a:defRPr>
            </a:pPr>
            <a:r>
              <a:t>Jeremy  •  Ababil Khoerul Imam  •  Vierico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print_grid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9144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2C47E"/>
                </a:solidFill>
                <a:latin typeface="Segoe UI"/>
              </a:defRPr>
            </a:pPr>
            <a:r>
              <a:t>APPENDIX / BACKUP SLIDES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Segoe UI"/>
              </a:defRPr>
            </a:pPr>
            <a:r>
              <a:t>Dokumentasi Teknis Lengkap, Formula Matematika, &amp; Lembar Q&amp;A Dewan Juri</a:t>
            </a:r>
          </a:p>
          <a:p>
            <a:pPr>
              <a:spcBef>
                <a:spcPts val="800"/>
              </a:spcBef>
              <a:defRPr sz="1500">
                <a:solidFill>
                  <a:srgbClr val="DCF0E1"/>
                </a:solidFill>
                <a:latin typeface="Segoe UI"/>
              </a:defRPr>
            </a:pPr>
            <a:r>
              <a:t>• A-1 : Formulasi Matematis Logit Blending &amp; Nelder-Mead Optimization</a:t>
            </a:r>
          </a:p>
          <a:p>
            <a:pPr>
              <a:spcBef>
                <a:spcPts val="800"/>
              </a:spcBef>
              <a:defRPr sz="1500">
                <a:solidFill>
                  <a:srgbClr val="DCF0E1"/>
                </a:solidFill>
                <a:latin typeface="Segoe UI"/>
              </a:defRPr>
            </a:pPr>
            <a:r>
              <a:t>• A-2 : Kurva Sensitivitas Threshold &amp; Trade-off Precision-Recall (Mixed Pixel)</a:t>
            </a:r>
          </a:p>
          <a:p>
            <a:pPr>
              <a:spcBef>
                <a:spcPts val="800"/>
              </a:spcBef>
              <a:defRPr sz="1500">
                <a:solidFill>
                  <a:srgbClr val="DCF0E1"/>
                </a:solidFill>
                <a:latin typeface="Segoe UI"/>
              </a:defRPr>
            </a:pPr>
            <a:r>
              <a:t>• A-3 : Rincian Arsitektur, Compound Loss Function, &amp; Hyperparameter Pelatihan</a:t>
            </a:r>
          </a:p>
          <a:p>
            <a:pPr>
              <a:spcBef>
                <a:spcPts val="800"/>
              </a:spcBef>
              <a:defRPr sz="1500">
                <a:solidFill>
                  <a:srgbClr val="DCF0E1"/>
                </a:solidFill>
                <a:latin typeface="Segoe UI"/>
              </a:defRPr>
            </a:pPr>
            <a:r>
              <a:t>• A-4 : Penanganan NoData Boundary (Border Swath) &amp; Formulasi Rule D-002</a:t>
            </a:r>
          </a:p>
          <a:p>
            <a:pPr>
              <a:spcBef>
                <a:spcPts val="800"/>
              </a:spcBef>
              <a:defRPr sz="1500">
                <a:solidFill>
                  <a:srgbClr val="DCF0E1"/>
                </a:solidFill>
                <a:latin typeface="Segoe UI"/>
              </a:defRPr>
            </a:pPr>
            <a:r>
              <a:t>• A-5 : Audit Radiometrik &amp; Normalisasi Pleiades vs ImageNet (Uji Statistik KS)</a:t>
            </a:r>
          </a:p>
          <a:p>
            <a:pPr>
              <a:spcBef>
                <a:spcPts val="800"/>
              </a:spcBef>
              <a:defRPr sz="1500">
                <a:solidFill>
                  <a:srgbClr val="DCF0E1"/>
                </a:solidFill>
                <a:latin typeface="Segoe UI"/>
              </a:defRPr>
            </a:pPr>
            <a:r>
              <a:t>• A-6 : Analisis Indeks Spektral NGRDI (Ketiadaan Kanal NIR)</a:t>
            </a:r>
          </a:p>
          <a:p>
            <a:pPr>
              <a:spcBef>
                <a:spcPts val="800"/>
              </a:spcBef>
              <a:defRPr sz="1500">
                <a:solidFill>
                  <a:srgbClr val="DCF0E1"/>
                </a:solidFill>
                <a:latin typeface="Segoe UI"/>
              </a:defRPr>
            </a:pPr>
            <a:r>
              <a:t>• A-7 : Dinamika Private Leaderboard (Shake-up Analysis Kenaikan +5 Posisi)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LAMPIRAN A1: </a:t>
            </a:r>
            <a:r>
              <a:rPr sz="2000" b="1">
                <a:solidFill>
                  <a:srgbClr val="103524"/>
                </a:solidFill>
                <a:latin typeface="Segoe UI"/>
              </a:rPr>
              <a:t>FORMULASI MATEMATIS LOGIT BLENDING &amp; NELDER-MEAD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Penyatuan ensemble di ruang logit unconstrained mempertahankan sifat probabilitas ekstrem mendekati 0 dan 1.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3524"/>
                </a:solidFill>
                <a:latin typeface="Segoe UI"/>
              </a:defRPr>
            </a:pPr>
            <a:r>
              <a:t>Transformasi ke Ruang Logit</a:t>
            </a:r>
          </a:p>
          <a:p>
            <a:pPr>
              <a:spcBef>
                <a:spcPts val="10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Kelemahan Rata-Rata Linear:</a:t>
            </a:r>
            <a:br/>
            <a:r>
              <a:t>Rata-rata aritmatika pada interval [0, 1] rentan tertekan (squashing) pada prediksi keyakinan tinggi.</a:t>
            </a:r>
          </a:p>
          <a:p>
            <a:pPr>
              <a:spcBef>
                <a:spcPts val="10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Formulasi Unconstrained Logit:</a:t>
            </a:r>
            <a:br/>
            <a:r>
              <a:t>  z_i = Σ w_m · ln[ p_m / (1 - p_m + ε) ]</a:t>
            </a:r>
            <a:br/>
            <a:r>
              <a:t>  dengan constraint: w_m ≥ 0 dan Σ w_m = 1.</a:t>
            </a:r>
          </a:p>
          <a:p>
            <a:pPr>
              <a:spcBef>
                <a:spcPts val="10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Fungsi Inverse Logistic:</a:t>
            </a:r>
            <a:br/>
            <a:r>
              <a:t>  P_ensemble = 1 / (1 + exp(-z_i))</a:t>
            </a:r>
          </a:p>
          <a:p>
            <a:pPr>
              <a:spcBef>
                <a:spcPts val="10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Keunggulan:</a:t>
            </a:r>
            <a:br/>
            <a:r>
              <a:t>Mempertahankan ketajaman kontur batas pematang sawah dan memungkinkan model spesialis saling mengompensasi secara optimal.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7344"/>
                </a:solidFill>
                <a:latin typeface="Segoe UI"/>
              </a:defRPr>
            </a:pPr>
            <a:r>
              <a:t>Optimasi Simplex Nelder-Mead OOF</a:t>
            </a:r>
          </a:p>
          <a:p>
            <a:pPr>
              <a:spcBef>
                <a:spcPts val="10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Fungsi Objektif (Maksimalkan Micro-IoU):</a:t>
            </a:r>
            <a:br/>
            <a:r>
              <a:t>  max_{w, τ}  TP / (TP + FP + FN)</a:t>
            </a:r>
          </a:p>
          <a:p>
            <a:pPr>
              <a:spcBef>
                <a:spcPts val="10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Konvergensi Bobot OOF (Bebas Leakage):</a:t>
            </a:r>
            <a:br/>
            <a:r>
              <a:t>  • Model 3 (U-Net SE-ResNeXt50) : 0,3690 (36,9%)</a:t>
            </a:r>
            <a:br/>
            <a:r>
              <a:t>  • Model 4 (U-Net EffNet-B4)    : 0,2529 (25,3%)</a:t>
            </a:r>
            <a:br/>
            <a:r>
              <a:t>  • Model 5 (DeepLabV3+ ResNeXt) : 0,2225 (22,3%)</a:t>
            </a:r>
            <a:br/>
            <a:r>
              <a:t>  • Model 7 (MAnet MiT-B3)       : 0,1556 (15,6%)</a:t>
            </a:r>
          </a:p>
          <a:p>
            <a:pPr>
              <a:spcBef>
                <a:spcPts val="10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Optimal Global Threshold: τ = 0,4652</a:t>
            </a:r>
          </a:p>
          <a:p>
            <a:pPr>
              <a:spcBef>
                <a:spcPts val="10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Skor Puncak Micro-IoU OOF = 0,9178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LAMPIRAN A2: </a:t>
            </a:r>
            <a:r>
              <a:rPr sz="2000" b="1">
                <a:solidFill>
                  <a:srgbClr val="103524"/>
                </a:solidFill>
                <a:latin typeface="Segoe UI"/>
              </a:rPr>
              <a:t>KURVA SENSITIVITAS THRESHOLD &amp; TRADE-OFF PRECISION-RECALL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Titik optimal τ = 0,4652 menyeimbangkan tangkapan pematang sempit tanpa membocorkan false positive.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486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ell_14b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530352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92240" y="1417320"/>
            <a:ext cx="49377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645920"/>
            <a:ext cx="4480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3524"/>
                </a:solidFill>
                <a:latin typeface="Segoe UI"/>
              </a:defRPr>
            </a:pPr>
            <a:r>
              <a:t>Analisis Trade-Off &amp; Mixed Pixel</a:t>
            </a:r>
          </a:p>
          <a:p>
            <a:pPr>
              <a:spcBef>
                <a:spcPts val="8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Kurva Cekung Mulus:</a:t>
            </a:r>
            <a:br/>
            <a:r>
              <a:t>Puncak IoU berada stabil pada τ = 0,4652 (IoU = 0,9178).</a:t>
            </a:r>
          </a:p>
          <a:p>
            <a:pPr>
              <a:spcBef>
                <a:spcPts val="8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Mengapa Bukan 0,50 Default?</a:t>
            </a:r>
            <a:br/>
            <a:r>
              <a:t>Pada threshold 0,50, model mengalami penalti under-prediction berat pada pematang sawah sempit.</a:t>
            </a:r>
          </a:p>
          <a:p>
            <a:pPr>
              <a:spcBef>
                <a:spcPts val="8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Mixed-Pixel Phenomenon (GSD 0,5 m):</a:t>
            </a:r>
            <a:br/>
            <a:r>
              <a:t>Piksel pematang bercampur air menghasilkan keyakinan di rentang 0,40–0,48. Ambang 0,465 memaksimalkan recall batas fisik tanpa menaikkan FP pemukiman.</a:t>
            </a:r>
          </a:p>
          <a:p>
            <a:pPr>
              <a:spcBef>
                <a:spcPts val="8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Rentang Stabilitas Luas:</a:t>
            </a:r>
            <a:br/>
            <a:r>
              <a:t>IoU berada di atas 0,915 pada rentang τ ∈ [0,44, 0,48], membuktikan kekokohan terhadap fluktuasi threshold.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LAMPIRAN A3: </a:t>
            </a:r>
            <a:r>
              <a:rPr sz="2000" b="1">
                <a:solidFill>
                  <a:srgbClr val="103524"/>
                </a:solidFill>
                <a:latin typeface="Segoe UI"/>
              </a:rPr>
              <a:t>RINCIAN ARSITEKTUR, LOSS, &amp; HYPERPARAMETER PELATIHAN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Spesifikasi komputasi 20 model terlatih pada GPU NVIDIA RTX 5070 dengan mixed-precision AMP.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3524"/>
                </a:solidFill>
                <a:latin typeface="Segoe UI"/>
              </a:defRPr>
            </a:pPr>
            <a:r>
              <a:t>Spesifikasi 4 Arsitektur Juara</a:t>
            </a:r>
          </a:p>
          <a:p>
            <a:pPr>
              <a:spcBef>
                <a:spcPts val="8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m3 (U-Net SE-ResNeXt50):</a:t>
            </a:r>
            <a:br/>
            <a:r>
              <a:t>• Params: 34.5M | Rerata Fold: 0.9103</a:t>
            </a:r>
            <a:br/>
            <a:r>
              <a:t>• Fitur: Squeeze-and-Excitation channel gating.</a:t>
            </a:r>
          </a:p>
          <a:p>
            <a:pPr>
              <a:spcBef>
                <a:spcPts val="8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m4 (U-Net EfficientNet-B4):</a:t>
            </a:r>
            <a:br/>
            <a:r>
              <a:t>• Params: 20.1M | Rerata Fold: 0.9041</a:t>
            </a:r>
            <a:br/>
            <a:r>
              <a:t>• Fitur: Compound depth/width scaling seimbang.</a:t>
            </a:r>
          </a:p>
          <a:p>
            <a:pPr>
              <a:spcBef>
                <a:spcPts val="8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m5 (DeepLabV3+ ResNeXt50):</a:t>
            </a:r>
            <a:br/>
            <a:r>
              <a:t>• Params: 26.1M | Rerata Fold: 0.8997</a:t>
            </a:r>
            <a:br/>
            <a:r>
              <a:t>• Fitur: Atrous Spatial Pyramid Pooling multiskala.</a:t>
            </a:r>
          </a:p>
          <a:p>
            <a:pPr>
              <a:spcBef>
                <a:spcPts val="8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m7 (MAnet MiT-B3 Transformer):</a:t>
            </a:r>
            <a:br/>
            <a:r>
              <a:t>• Params: 47.4M | Rerata Fold: 0.8894</a:t>
            </a:r>
            <a:br/>
            <a:r>
              <a:t>• Fitur: Hierarchical multi-scale self-attention.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7344"/>
                </a:solidFill>
                <a:latin typeface="Segoe UI"/>
              </a:defRPr>
            </a:pPr>
            <a:r>
              <a:t>Protokol Pelatihan &amp; Akselerasi</a:t>
            </a:r>
          </a:p>
          <a:p>
            <a:pPr>
              <a:spcBef>
                <a:spcPts val="8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Compound Loss Function:</a:t>
            </a:r>
            <a:br/>
            <a:r>
              <a:t>  L = 0,5 × L_BCEWithLogits + 0,5 × L_SoftDice</a:t>
            </a:r>
            <a:br/>
            <a:r>
              <a:t>Menjaga keseimbangan gradien biner dan IoU spasial.</a:t>
            </a:r>
          </a:p>
          <a:p>
            <a:pPr>
              <a:spcBef>
                <a:spcPts val="8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Optimizer &amp; Learning Rate:</a:t>
            </a:r>
            <a:br/>
            <a:r>
              <a:t>• AdamW (lr=3e-4, weight_decay=1e-4)</a:t>
            </a:r>
            <a:br/>
            <a:r>
              <a:t>• CosineAnnealingLR (T_max=30, min_lr=1e-6)</a:t>
            </a:r>
          </a:p>
          <a:p>
            <a:pPr>
              <a:spcBef>
                <a:spcPts val="8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Batching &amp; Augmentasi:</a:t>
            </a:r>
            <a:br/>
            <a:r>
              <a:t>• Crop acak: 512×512 | Batch size: 8 | Epoch: 30</a:t>
            </a:r>
            <a:br/>
            <a:r>
              <a:t>• Augmentasi D4 (rotasi 4 sudut, flip, brightness/contrast)</a:t>
            </a:r>
          </a:p>
          <a:p>
            <a:pPr>
              <a:spcBef>
                <a:spcPts val="8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Infrastruktur Akselerasi:</a:t>
            </a:r>
            <a:br/>
            <a:r>
              <a:t>• GPU NVIDIA GeForce RTX 5070 (12 GB VRAM)</a:t>
            </a:r>
            <a:br/>
            <a:r>
              <a:t>• Mixed Precision FP16 (PyTorch AMP) | Durasi: 61,1 menit.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LAMPIRAN A4: </a:t>
            </a:r>
            <a:r>
              <a:rPr sz="2000" b="1">
                <a:solidFill>
                  <a:srgbClr val="103524"/>
                </a:solidFill>
                <a:latin typeface="Segoe UI"/>
              </a:rPr>
              <a:t>PENANGANAN NODATA BOUNDARY (BORDER SWATH) &amp; RULE D-002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Proteksi deterministik mengeliminasi false positive akibat kebocoran tekstur di tepian orbit satelit.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3524"/>
                </a:solidFill>
                <a:latin typeface="Segoe UI"/>
              </a:defRPr>
            </a:pPr>
            <a:r>
              <a:t>Karakteristik Fisik NoData [0, 0, 0]</a:t>
            </a:r>
          </a:p>
          <a:p>
            <a:pPr>
              <a:spcBef>
                <a:spcPts val="1200"/>
              </a:spcBef>
              <a:defRPr sz="1350">
                <a:solidFill>
                  <a:srgbClr val="18261E"/>
                </a:solidFill>
                <a:latin typeface="Segoe UI"/>
              </a:defRPr>
            </a:pPr>
            <a:r>
              <a:t>• Asal-Usul Fisik Orbit Mosaik:</a:t>
            </a:r>
            <a:br/>
            <a:r>
              <a:t>Border hitam terbentuk dari sudut pemotongan swath polygon orbit satelit Pleiades pada tile citra.</a:t>
            </a:r>
          </a:p>
          <a:p>
            <a:pPr>
              <a:spcBef>
                <a:spcPts val="1200"/>
              </a:spcBef>
              <a:defRPr sz="1350">
                <a:solidFill>
                  <a:srgbClr val="18261E"/>
                </a:solidFill>
                <a:latin typeface="Segoe UI"/>
              </a:defRPr>
            </a:pPr>
            <a:r>
              <a:t>• Proporsi NoData Signifikan:</a:t>
            </a:r>
            <a:br/>
            <a:r>
              <a:t>• Rerata piksel hitam: 18,95% (train) dan 14,07% (test).</a:t>
            </a:r>
            <a:br/>
            <a:r>
              <a:t>• Sebanyak 22 tile train (17,9%) dan 12 tile test (9,3%) memiliki area kosong &gt; 50%.</a:t>
            </a:r>
          </a:p>
          <a:p>
            <a:pPr>
              <a:spcBef>
                <a:spcPts val="1200"/>
              </a:spcBef>
              <a:defRPr sz="1350">
                <a:solidFill>
                  <a:srgbClr val="18261E"/>
                </a:solidFill>
                <a:latin typeface="Segoe UI"/>
              </a:defRPr>
            </a:pPr>
            <a:r>
              <a:t>• Bukti Integritas Ground Truth:</a:t>
            </a:r>
            <a:br/>
            <a:r>
              <a:t>Pada 100% piksel NoData [0,0,0], sawah ground truth adalah tepat 0,00% (tidak pernah ada sawah di area hitam).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7344"/>
                </a:solidFill>
                <a:latin typeface="Segoe UI"/>
              </a:defRPr>
            </a:pPr>
            <a:r>
              <a:t>Aturan Deterministik Rule D-002</a:t>
            </a:r>
          </a:p>
          <a:p>
            <a:pPr>
              <a:spcBef>
                <a:spcPts val="1000"/>
              </a:spcBef>
              <a:defRPr sz="1350">
                <a:solidFill>
                  <a:srgbClr val="18261E"/>
                </a:solidFill>
                <a:latin typeface="Segoe UI"/>
              </a:defRPr>
            </a:pPr>
            <a:r>
              <a:t>• Formulasi Post-Processing Deterministik:</a:t>
            </a:r>
            <a:br/>
            <a:r>
              <a:t>  pred_mask[img == [0, 0, 0]] = 0</a:t>
            </a:r>
          </a:p>
          <a:p>
            <a:pPr>
              <a:spcBef>
                <a:spcPts val="1000"/>
              </a:spcBef>
              <a:defRPr sz="1350">
                <a:solidFill>
                  <a:srgbClr val="18261E"/>
                </a:solidFill>
                <a:latin typeface="Segoe UI"/>
              </a:defRPr>
            </a:pPr>
            <a:r>
              <a:t>• Mengapa Diperlukan?</a:t>
            </a:r>
            <a:br/>
            <a:r>
              <a:t>Operasi konvolusi dan atensi transformer dapat melakukan interpolasi liar (texture bleeding) di batas diagonal hitam, memicu penalti false positive berat.</a:t>
            </a:r>
          </a:p>
          <a:p>
            <a:pPr>
              <a:spcBef>
                <a:spcPts val="1000"/>
              </a:spcBef>
              <a:defRPr sz="1350">
                <a:solidFill>
                  <a:srgbClr val="18261E"/>
                </a:solidFill>
                <a:latin typeface="Segoe UI"/>
              </a:defRPr>
            </a:pPr>
            <a:r>
              <a:t>• Thresholding Adaptif NoData:</a:t>
            </a:r>
            <a:br/>
            <a:r>
              <a:t>  τ_local = max(0.20, BASE_TAU - 0.25 × nodata_pct)</a:t>
            </a:r>
            <a:br/>
            <a:r>
              <a:t>Menyesuaikan ambang batas pada tile yang terpotong parah untuk menjaga recall.</a:t>
            </a:r>
          </a:p>
          <a:p>
            <a:pPr>
              <a:spcBef>
                <a:spcPts val="1000"/>
              </a:spcBef>
              <a:defRPr sz="1350">
                <a:solidFill>
                  <a:srgbClr val="18261E"/>
                </a:solidFill>
                <a:latin typeface="Segoe UI"/>
              </a:defRPr>
            </a:pPr>
            <a:r>
              <a:t>• Dampak Evaluasi:</a:t>
            </a:r>
            <a:br/>
            <a:r>
              <a:t>Menghapus 100% false-positive pada border swath secara lossless tanpa mengorbankan true positive.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LAMPIRAN A5: </a:t>
            </a:r>
            <a:r>
              <a:rPr sz="2000" b="1">
                <a:solidFill>
                  <a:srgbClr val="103524"/>
                </a:solidFill>
                <a:latin typeface="Segoe UI"/>
              </a:rPr>
              <a:t>AUDIT RADIOMETRIK &amp; NORMALISASI PLEIADES VS IMAGENET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Statistik Kolmogorov-Smirnov &lt; 0,05 membuktikan ketiadaan domain shift antara data latih dan uji.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3524"/>
                </a:solidFill>
                <a:latin typeface="Segoe UI"/>
              </a:defRPr>
            </a:pPr>
            <a:r>
              <a:t>Statistik Normalisasi Khusus Pleiades</a:t>
            </a:r>
          </a:p>
          <a:p>
            <a:pPr>
              <a:spcBef>
                <a:spcPts val="1000"/>
              </a:spcBef>
              <a:defRPr sz="1350">
                <a:solidFill>
                  <a:srgbClr val="18261E"/>
                </a:solidFill>
                <a:latin typeface="Segoe UI"/>
              </a:defRPr>
            </a:pPr>
            <a:r>
              <a:t>• Statistik Empiris Dataset Pleiades:</a:t>
            </a:r>
            <a:br/>
            <a:r>
              <a:t>• Mean : [0.3230, 0.3372, 0.3593] (R, G, B)</a:t>
            </a:r>
            <a:br/>
            <a:r>
              <a:t>• Std  : [0.2069, 0.1901, 0.1848]</a:t>
            </a:r>
          </a:p>
          <a:p>
            <a:pPr>
              <a:spcBef>
                <a:spcPts val="1000"/>
              </a:spcBef>
              <a:defRPr sz="1350">
                <a:solidFill>
                  <a:srgbClr val="18261E"/>
                </a:solidFill>
                <a:latin typeface="Segoe UI"/>
              </a:defRPr>
            </a:pPr>
            <a:r>
              <a:t>• Bandingkan dengan ImageNet Standar:</a:t>
            </a:r>
            <a:br/>
            <a:r>
              <a:t>• Mean : [0.4850, 0.4560, 0.4060]</a:t>
            </a:r>
            <a:br/>
            <a:r>
              <a:t>• Std  : [0.2290, 0.2240, 0.2250]</a:t>
            </a:r>
          </a:p>
          <a:p>
            <a:pPr>
              <a:spcBef>
                <a:spcPts val="1000"/>
              </a:spcBef>
              <a:defRPr sz="1350">
                <a:solidFill>
                  <a:srgbClr val="18261E"/>
                </a:solidFill>
                <a:latin typeface="Segoe UI"/>
              </a:defRPr>
            </a:pPr>
            <a:r>
              <a:t>• Justifikasi Radiometrik:</a:t>
            </a:r>
            <a:br/>
            <a:r>
              <a:t>Citra satelit Pleiades jauh lebih gelap dan pekat secara spektral dibanding foto fotografi natural ImageNet.</a:t>
            </a:r>
          </a:p>
          <a:p>
            <a:pPr>
              <a:spcBef>
                <a:spcPts val="1000"/>
              </a:spcBef>
              <a:defRPr sz="1350">
                <a:solidFill>
                  <a:srgbClr val="18261E"/>
                </a:solidFill>
                <a:latin typeface="Segoe UI"/>
              </a:defRPr>
            </a:pPr>
            <a:r>
              <a:t>• Dampak Pelatihan:</a:t>
            </a:r>
            <a:br/>
            <a:r>
              <a:t>Normalisasi spesifik memastikan aktivasi fitur pada lapisan awal konvolusi terpusat pada rentang dinamis citra dan menjaga kestabilan gradien.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7344"/>
                </a:solidFill>
                <a:latin typeface="Segoe UI"/>
              </a:defRPr>
            </a:pPr>
            <a:r>
              <a:t>Uji Covariate Shift (Kolmogorov-Smirnov)</a:t>
            </a:r>
          </a:p>
          <a:p>
            <a:pPr>
              <a:spcBef>
                <a:spcPts val="1000"/>
              </a:spcBef>
              <a:defRPr sz="1350">
                <a:solidFill>
                  <a:srgbClr val="18261E"/>
                </a:solidFill>
                <a:latin typeface="Segoe UI"/>
              </a:defRPr>
            </a:pPr>
            <a:r>
              <a:t>• Tujuan Pengujian Statistik:</a:t>
            </a:r>
            <a:br/>
            <a:r>
              <a:t>Menguji hipotesis apakah distribusi intensitas kanal RGB antara citra Train dan Test identik.</a:t>
            </a:r>
          </a:p>
          <a:p>
            <a:pPr>
              <a:spcBef>
                <a:spcPts val="1000"/>
              </a:spcBef>
              <a:defRPr sz="1350">
                <a:solidFill>
                  <a:srgbClr val="18261E"/>
                </a:solidFill>
                <a:latin typeface="Segoe UI"/>
              </a:defRPr>
            </a:pPr>
            <a:r>
              <a:t>• Hasil Statistik Uji Dua Sampel KS:</a:t>
            </a:r>
            <a:br/>
            <a:r>
              <a:t>• Kanal Merah (R) : KS = 0,0197</a:t>
            </a:r>
            <a:br/>
            <a:r>
              <a:t>• Kanal Hijau (G) : KS = 0,0374</a:t>
            </a:r>
            <a:br/>
            <a:r>
              <a:t>• Kanal Biru (B)  : KS = 0,0405</a:t>
            </a:r>
          </a:p>
          <a:p>
            <a:pPr>
              <a:spcBef>
                <a:spcPts val="1000"/>
              </a:spcBef>
              <a:defRPr sz="1350">
                <a:solidFill>
                  <a:srgbClr val="18261E"/>
                </a:solidFill>
                <a:latin typeface="Segoe UI"/>
              </a:defRPr>
            </a:pPr>
            <a:r>
              <a:t>• Interpretasi Statistik:</a:t>
            </a:r>
            <a:br/>
            <a:r>
              <a:t>Seluruh nilai uji berada jauh di bawah ambang kritis 0,05 (p-value &gt; 0,05).</a:t>
            </a:r>
          </a:p>
          <a:p>
            <a:pPr>
              <a:spcBef>
                <a:spcPts val="1000"/>
              </a:spcBef>
              <a:defRPr sz="1350">
                <a:solidFill>
                  <a:srgbClr val="18261E"/>
                </a:solidFill>
                <a:latin typeface="Segoe UI"/>
              </a:defRPr>
            </a:pPr>
            <a:r>
              <a:t>• Kesimpulan Ilmiah:</a:t>
            </a:r>
            <a:br/>
            <a:r>
              <a:t>Tidak ditemukan covariate shift radiometrik yang signifikan. Kalibrasi sensor dan sudut elevasi matahari homogen antara train dan test.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LAMPIRAN A6: </a:t>
            </a:r>
            <a:r>
              <a:rPr sz="2000" b="1">
                <a:solidFill>
                  <a:srgbClr val="103524"/>
                </a:solidFill>
                <a:latin typeface="Segoe UI"/>
              </a:rPr>
              <a:t>ANALISIS INDEKS SPEKTRAL NGRDI (KETIADAAN KANAL NIR)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Model memadukan indeks diferensial hijau-merah dengan prior tekstur dan geometri pematang lurus.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3524"/>
                </a:solidFill>
                <a:latin typeface="Segoe UI"/>
              </a:defRPr>
            </a:pPr>
            <a:r>
              <a:t>Substitusi NDVI: Indeks NGRDI</a:t>
            </a:r>
          </a:p>
          <a:p>
            <a:pPr>
              <a:spcBef>
                <a:spcPts val="1200"/>
              </a:spcBef>
              <a:defRPr sz="1350">
                <a:solidFill>
                  <a:srgbClr val="18261E"/>
                </a:solidFill>
                <a:latin typeface="Segoe UI"/>
              </a:defRPr>
            </a:pPr>
            <a:r>
              <a:t>• Tantangan Spektral:</a:t>
            </a:r>
            <a:br/>
            <a:r>
              <a:t>Dataset Pleiades tidak memiliki kanal Near-Infrared (NIR) sehingga NDVI standar tidak dapat dihitung.</a:t>
            </a:r>
          </a:p>
          <a:p>
            <a:pPr>
              <a:spcBef>
                <a:spcPts val="1200"/>
              </a:spcBef>
              <a:defRPr sz="1350">
                <a:solidFill>
                  <a:srgbClr val="18261E"/>
                </a:solidFill>
                <a:latin typeface="Segoe UI"/>
              </a:defRPr>
            </a:pPr>
            <a:r>
              <a:t>• Formulasi NGRDI (Green-Red Difference):</a:t>
            </a:r>
            <a:br/>
            <a:r>
              <a:t>  NGRDI = (G - R) / (G + R + ε)</a:t>
            </a:r>
          </a:p>
          <a:p>
            <a:pPr>
              <a:spcBef>
                <a:spcPts val="1200"/>
              </a:spcBef>
              <a:defRPr sz="1350">
                <a:solidFill>
                  <a:srgbClr val="18261E"/>
                </a:solidFill>
                <a:latin typeface="Segoe UI"/>
              </a:defRPr>
            </a:pPr>
            <a:r>
              <a:t>• Daya Pisah Spektral Empiris:</a:t>
            </a:r>
            <a:br/>
            <a:r>
              <a:t>• Rerata NGRDI Sawah    : +0,0320</a:t>
            </a:r>
            <a:br/>
            <a:r>
              <a:t>• Rerata NGRDI Non-Sawah: +0,0154</a:t>
            </a:r>
          </a:p>
          <a:p>
            <a:pPr>
              <a:spcBef>
                <a:spcPts val="1200"/>
              </a:spcBef>
              <a:defRPr sz="1350">
                <a:solidFill>
                  <a:srgbClr val="18261E"/>
                </a:solidFill>
                <a:latin typeface="Segoe UI"/>
              </a:defRPr>
            </a:pPr>
            <a:r>
              <a:t>• Indikasi Biologis:</a:t>
            </a:r>
            <a:br/>
            <a:r>
              <a:t>Sawah aktif memperlihatkan nilai NGRDI positif yang konsisten berkat pantulan klorofil tanaman padi muda pada spektrum tampak.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7344"/>
                </a:solidFill>
                <a:latin typeface="Segoe UI"/>
              </a:defRPr>
            </a:pPr>
            <a:r>
              <a:t>Peran Prior Spasial &amp; Tekstur Mendalam</a:t>
            </a:r>
          </a:p>
          <a:p>
            <a:pPr>
              <a:spcBef>
                <a:spcPts val="8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Bagaimana Membedakan Sawah vs Pohon / Semak?</a:t>
            </a:r>
            <a:br/>
            <a:r>
              <a:t>Tanpa kanal NIR, model memanfaatkan representasi fitur spasial mendalam (deep spatial representations):</a:t>
            </a:r>
          </a:p>
          <a:p>
            <a:pPr>
              <a:spcBef>
                <a:spcPts val="8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1. Geometri Pematang Teratur (Bunds):</a:t>
            </a:r>
            <a:br/>
            <a:r>
              <a:t>Petak sawah memiliki batas pematang lurus, sudut ortogonal, dan garis irigasi teratur.</a:t>
            </a:r>
          </a:p>
          <a:p>
            <a:pPr>
              <a:spcBef>
                <a:spcPts val="8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2. Tekstur Permukaan Homogen:</a:t>
            </a:r>
            <a:br/>
            <a:r>
              <a:t>Permukaan sawah basah relatif halus secara lokal, berbeda dari kanopi pohon bertekstur kasar (rough tree canopy).</a:t>
            </a:r>
          </a:p>
          <a:p>
            <a:pPr>
              <a:spcBef>
                <a:spcPts val="8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3. Integrasi Konteks Multiskala:</a:t>
            </a:r>
            <a:br/>
            <a:r>
              <a:t>Modul ASPP dan Transformer MiT-B3 mengkorelasikan petak sawah dengan jaringan aliran air.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LAMPIRAN A7: </a:t>
            </a:r>
            <a:r>
              <a:rPr sz="2000" b="1">
                <a:solidFill>
                  <a:srgbClr val="103524"/>
                </a:solidFill>
                <a:latin typeface="Segoe UI"/>
              </a:rPr>
              <a:t>DINAMIKA PRIVATE LEADERBOARD (SHAKE-UP ANALYSIS)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Validasi silang terstratifikasi dan optimasi OOF murni membuktikan pipeline bebas overfitting ke Public LB.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3524"/>
                </a:solidFill>
                <a:latin typeface="Segoe UI"/>
              </a:defRPr>
            </a:pPr>
            <a:r>
              <a:t>Bukti Ketahanan Generalisasi</a:t>
            </a:r>
          </a:p>
          <a:p>
            <a:pPr>
              <a:spcBef>
                <a:spcPts val="1200"/>
              </a:spcBef>
              <a:defRPr sz="1400">
                <a:solidFill>
                  <a:srgbClr val="18261E"/>
                </a:solidFill>
                <a:latin typeface="Segoe UI"/>
              </a:defRPr>
            </a:pPr>
            <a:r>
              <a:t>• Public Leaderboard (55% slice uji):</a:t>
            </a:r>
            <a:br/>
            <a:r>
              <a:t>• Skor: 0,78169 | Peringkat 7</a:t>
            </a:r>
          </a:p>
          <a:p>
            <a:pPr>
              <a:spcBef>
                <a:spcPts val="1200"/>
              </a:spcBef>
              <a:defRPr sz="1400">
                <a:solidFill>
                  <a:srgbClr val="18261E"/>
                </a:solidFill>
                <a:latin typeface="Segoe UI"/>
              </a:defRPr>
            </a:pPr>
            <a:r>
              <a:t>• Private Leaderboard (45% slice penentuan):</a:t>
            </a:r>
            <a:br/>
            <a:r>
              <a:t>• Skor: 0,68965 | Peringkat 2 Nasional (Runner-Up)</a:t>
            </a:r>
          </a:p>
          <a:p>
            <a:pPr>
              <a:spcBef>
                <a:spcPts val="1200"/>
              </a:spcBef>
              <a:defRPr sz="1400">
                <a:solidFill>
                  <a:srgbClr val="18261E"/>
                </a:solidFill>
                <a:latin typeface="Segoe UI"/>
              </a:defRPr>
            </a:pPr>
            <a:r>
              <a:t>• Dinamika Kenaikan Peringkat:</a:t>
            </a:r>
            <a:br/>
            <a:r>
              <a:t>Tim melonjak naik +5 POSISI ke peringkat 2 nasional saat dievaluasi pada data uji final!</a:t>
            </a:r>
          </a:p>
          <a:p>
            <a:pPr>
              <a:spcBef>
                <a:spcPts val="1200"/>
              </a:spcBef>
              <a:defRPr sz="1400">
                <a:solidFill>
                  <a:srgbClr val="18261E"/>
                </a:solidFill>
                <a:latin typeface="Segoe UI"/>
              </a:defRPr>
            </a:pPr>
            <a:r>
              <a:t>• Selisih Tipis dari Juara 1:</a:t>
            </a:r>
            <a:br/>
            <a:r>
              <a:t>Skor Juara 1 adalah 0,69137 (selisih hanya 0,0017 atau 0,17% dari solusi kami).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7344"/>
                </a:solidFill>
                <a:latin typeface="Segoe UI"/>
              </a:defRPr>
            </a:pPr>
            <a:r>
              <a:t>Mengapa Solusi Kami Tahan Goncangan?</a:t>
            </a:r>
          </a:p>
          <a:p>
            <a:pPr>
              <a:spcBef>
                <a:spcPts val="1200"/>
              </a:spcBef>
              <a:defRPr sz="1350">
                <a:solidFill>
                  <a:srgbClr val="18261E"/>
                </a:solidFill>
                <a:latin typeface="Segoe UI"/>
              </a:defRPr>
            </a:pPr>
            <a:r>
              <a:t>• 1. Kalibrasi Bebas Leakage:</a:t>
            </a:r>
            <a:br/>
            <a:r>
              <a:t>Seluruh bobot ensemble dan threshold dituning murni pada validasi 5-fold OOF. Tim yang melakukan over-tuning pada Public LB mengalami shake-down parah saat diuji pada private set.</a:t>
            </a:r>
          </a:p>
          <a:p>
            <a:pPr>
              <a:spcBef>
                <a:spcPts val="1200"/>
              </a:spcBef>
              <a:defRPr sz="1350">
                <a:solidFill>
                  <a:srgbClr val="18261E"/>
                </a:solidFill>
                <a:latin typeface="Segoe UI"/>
              </a:defRPr>
            </a:pPr>
            <a:r>
              <a:t>• 2. Stratifikasi Kuantil Tutupan:</a:t>
            </a:r>
            <a:br/>
            <a:r>
              <a:t>Pembagian lipatan menjaga proporsi sawah merata di setiap fold (35% - 39%), mencegah bias perkiraan metrik.</a:t>
            </a:r>
          </a:p>
          <a:p>
            <a:pPr>
              <a:spcBef>
                <a:spcPts val="1200"/>
              </a:spcBef>
              <a:defRPr sz="1350">
                <a:solidFill>
                  <a:srgbClr val="18261E"/>
                </a:solidFill>
                <a:latin typeface="Segoe UI"/>
              </a:defRPr>
            </a:pPr>
            <a:r>
              <a:t>• 3. Multi-Family Diversity:</a:t>
            </a:r>
            <a:br/>
            <a:r>
              <a:t>Kombinasi CNN lokal, multiscale pooling, dan transformer hierarkis menghasilkan peredaman variansi error yang sangat tinggi pada area geografis baru.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