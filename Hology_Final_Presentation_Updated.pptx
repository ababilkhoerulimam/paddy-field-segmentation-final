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6858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>
                <a:solidFill>
                  <a:srgbClr val="78B987"/>
                </a:solidFill>
                <a:latin typeface="Calibri"/>
              </a:defRPr>
            </a:pPr>
            <a:r>
              <a:t>Holomine - Hology 9.0 - Universitas Brawijaya</a:t>
            </a:r>
          </a:p>
          <a:p>
            <a:br/>
            <a:pPr>
              <a:defRPr sz="4400" b="1">
                <a:solidFill>
                  <a:srgbClr val="FFFFFF"/>
                </a:solidFill>
                <a:latin typeface="Cambria"/>
              </a:defRPr>
            </a:pPr>
            <a:r>
              <a:t>MEMBACA SAWAH</a:t>
            </a:r>
            <a:br/>
            <a:r>
              <a:t>DARI LANGIT</a:t>
            </a:r>
          </a:p>
          <a:p>
            <a:br/>
            <a:pPr>
              <a:defRPr sz="1800" i="1">
                <a:solidFill>
                  <a:srgbClr val="DCEBE1"/>
                </a:solidFill>
                <a:latin typeface="Calibri"/>
              </a:defRPr>
            </a:pPr>
            <a:r>
              <a:t>Segmentasi sawah citra Pleiades 0,5 m, Tangerang</a:t>
            </a:r>
            <a:br/>
            <a:r>
              <a:t>Sepatan Timur</a:t>
            </a:r>
          </a:p>
          <a:p>
            <a:br/>
            <a:br/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Jeremy  •  Ababil  •  Vierico</a:t>
            </a:r>
          </a:p>
        </p:txBody>
      </p:sp>
      <p:pic>
        <p:nvPicPr>
          <p:cNvPr id="4" name="Picture 3" descr="page_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77240"/>
            <a:ext cx="3931920" cy="2514600"/>
          </a:xfrm>
          <a:prstGeom prst="rect">
            <a:avLst/>
          </a:prstGeom>
        </p:spPr>
      </p:pic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520440"/>
            <a:ext cx="39319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permasalahan secara umum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libri"/>
              </a:defRPr>
            </a:pPr>
            <a:r>
              <a:t>Holomine Paddy Field Segmentation Finals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Segmentasi biner sawah dari citra satelit Pleiades 1024×1024, 0,5 m/piksel.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123 tile latih, 129 tile uji (71 public, 58 private).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Metrik: proporsi tile yang lolos ambang IoU 0,50–0,95 (Airbus Object Segmentation Beta).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Hasil: Runner-Up Nasional, Private LB 0,68965 (+5 posisi naik pada evaluasi akhir).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D2B24"/>
                </a:solidFill>
                <a:latin typeface="Cambria"/>
              </a:defRPr>
            </a:pPr>
            <a:r>
              <a:t>Masalah di balik lomba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212080" cy="1325880"/>
          </a:xfrm>
          <a:prstGeom prst="rect">
            <a:avLst/>
          </a:prstGeom>
          <a:solidFill>
            <a:srgbClr val="16352A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78B987"/>
                </a:solidFill>
                <a:latin typeface="Calibri"/>
              </a:defRPr>
            </a:pPr>
            <a:r>
              <a:t>92%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sampel KSA dari citra satelit disebut tidak akurat oleh Mentan (2018)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4612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83279"/>
            <a:ext cx="4663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E683E"/>
                </a:solidFill>
                <a:latin typeface="Calibri"/>
              </a:defRPr>
            </a:pPr>
            <a:r>
              <a:t>7,1 vs 7,46 juta ha</a:t>
            </a:r>
          </a:p>
          <a:p>
            <a:pPr>
              <a:spcBef>
                <a:spcPts val="4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luas baku sawah nasional: ketetapan 2018 vs hasil verifikasi 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754879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892040"/>
            <a:ext cx="4663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E683E"/>
                </a:solidFill>
                <a:latin typeface="Calibri"/>
              </a:defRPr>
            </a:pPr>
            <a:r>
              <a:t>194 ke 187 ribu ha</a:t>
            </a:r>
          </a:p>
          <a:p>
            <a:pPr>
              <a:spcBef>
                <a:spcPts val="4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luas baku sawah Banten (Distan Banten,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Dataset lomba dan masalahnya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E683E"/>
                </a:solidFill>
                <a:latin typeface="Calibri"/>
              </a:defRPr>
            </a:pPr>
            <a:r>
              <a:t>123 / 129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tile latih / uji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2801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E683E"/>
                </a:solidFill>
                <a:latin typeface="Calibri"/>
              </a:defRPr>
            </a:pPr>
            <a:r>
              <a:t>1024×1024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RGB, 0,5 m/piksel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E683E"/>
                </a:solidFill>
                <a:latin typeface="Calibri"/>
              </a:defRPr>
            </a:pPr>
            <a:r>
              <a:t>37,1%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rerata piksel sawah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2801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E683E"/>
                </a:solidFill>
                <a:latin typeface="Calibri"/>
              </a:defRPr>
            </a:pPr>
            <a:r>
              <a:t>1 kelas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mask biner {0, 255}</a:t>
            </a:r>
          </a:p>
        </p:txBody>
      </p:sp>
      <p:pic>
        <p:nvPicPr>
          <p:cNvPr id="13" name="Picture 12" descr="pag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5120640" cy="3383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035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Sebaran tutupan sawah per tile (123 tile latih)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D2B24"/>
                </a:solidFill>
                <a:latin typeface="Cambria"/>
              </a:defRPr>
            </a:pPr>
            <a:r>
              <a:t>Masalah pada dataset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NoData hitam ±19% piksel; 22 tile latih &gt;50% kosong.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Tutupan sangat timpang (≈1% sampai ≈100%).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Hanya RGB, tanpa kanal NIR.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Hanya 123 tile latih.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Latih dari blok Barat, uji dari blok Timur.</a:t>
            </a:r>
          </a:p>
          <a:p>
            <a:pPr>
              <a:spcBef>
                <a:spcPts val="9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Pematang tipis dan genangan awal tanam mirip tambak.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Penanganan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5912" cy="594360"/>
          </a:xfrm>
          <a:prstGeom prst="rect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Masalah pada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3560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Penanganan &amp; Solusi Rekayasa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NoData hitam ±19% (sawah 0% di area 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Zeroing deterministik pada piksel [0,0,0] (Rule D-002)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24328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6148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Tutupan timpang antar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61488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Stratified 5-fold berdasar kuantil tutupan (35,2–39,2% per fold)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6557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Data kecil, risiko overfit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65576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Augmentasi D4, distorsi, jitter foto; crop acak 512; TTA 4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32504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966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Distribusi warna Pleiades beda dari ImageNet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69664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Normalisasi mean/std dataset sendiri; KS train–uji &lt;0,05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36592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7375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Format keluaran lomba RLE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873752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RLE kolom-mayor, uji roundtrip 100% identik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40679"/>
            <a:ext cx="10725912" cy="12700"/>
          </a:xfrm>
          <a:prstGeom prst="rect">
            <a:avLst/>
          </a:prstGeom>
          <a:solidFill>
            <a:srgbClr val="DE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Integritas citra dan 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57784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2B24"/>
                </a:solidFill>
                <a:latin typeface="Calibri"/>
              </a:defRPr>
            </a:pPr>
            <a:r>
              <a:t>100% valid 1024×1024 RGB; mask biner ketat {0, 255}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Feature engineering dan model yang digunakan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931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B24"/>
                </a:solidFill>
                <a:latin typeface="Calibri"/>
              </a:defRPr>
            </a:pPr>
            <a:r>
              <a:t>Fitur</a:t>
            </a:r>
          </a:p>
          <a:p>
            <a:pPr>
              <a:spcBef>
                <a:spcPts val="16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Tidak ada fitur buatan tangan: fitur tekstur dan bentuk petak dipelajari encoder pretrained.</a:t>
            </a:r>
          </a:p>
          <a:p>
            <a:pPr>
              <a:spcBef>
                <a:spcPts val="16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Input: 3 kanal RGB, dinormalisasi dengan statistik dataset spesifik Pleiades.</a:t>
            </a:r>
          </a:p>
          <a:p>
            <a:pPr>
              <a:spcBef>
                <a:spcPts val="16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NGRDI dipakai untuk analisis separasi sawah (+0,032) vs bukan sawah (+0,015).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108960" cy="2286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69164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m3 U-Net</a:t>
            </a:r>
          </a:p>
          <a:p>
            <a:pPr>
              <a:spcBef>
                <a:spcPts val="800"/>
              </a:spcBef>
              <a:defRPr sz="1600">
                <a:solidFill>
                  <a:srgbClr val="78B987"/>
                </a:solidFill>
                <a:latin typeface="Calibri"/>
              </a:defRPr>
            </a:pPr>
            <a:r>
              <a:t>SE-ResNeXt50</a:t>
            </a:r>
          </a:p>
          <a:p>
            <a:pPr>
              <a:spcBef>
                <a:spcPts val="1600"/>
              </a:spcBef>
              <a:defRPr sz="1350">
                <a:solidFill>
                  <a:srgbClr val="DCEBE1"/>
                </a:solidFill>
                <a:latin typeface="Calibri"/>
              </a:defRPr>
            </a:pPr>
            <a:r>
              <a:t>atensi kanal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108960" cy="2286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9164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m4 U-Net</a:t>
            </a:r>
          </a:p>
          <a:p>
            <a:pPr>
              <a:spcBef>
                <a:spcPts val="800"/>
              </a:spcBef>
              <a:defRPr sz="1600">
                <a:solidFill>
                  <a:srgbClr val="78B987"/>
                </a:solidFill>
                <a:latin typeface="Calibri"/>
              </a:defRPr>
            </a:pPr>
            <a:r>
              <a:t>EfficientNet-B4</a:t>
            </a:r>
          </a:p>
          <a:p>
            <a:pPr>
              <a:spcBef>
                <a:spcPts val="1600"/>
              </a:spcBef>
              <a:defRPr sz="1350">
                <a:solidFill>
                  <a:srgbClr val="DCEBE1"/>
                </a:solidFill>
                <a:latin typeface="Calibri"/>
              </a:defRPr>
            </a:pPr>
            <a:r>
              <a:t>compound scaling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840480"/>
            <a:ext cx="3108960" cy="2286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41605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m5 DeepLabV3+</a:t>
            </a:r>
          </a:p>
          <a:p>
            <a:pPr>
              <a:spcBef>
                <a:spcPts val="800"/>
              </a:spcBef>
              <a:defRPr sz="1600">
                <a:solidFill>
                  <a:srgbClr val="78B987"/>
                </a:solidFill>
                <a:latin typeface="Calibri"/>
              </a:defRPr>
            </a:pPr>
            <a:r>
              <a:t>ResNeXt50</a:t>
            </a:r>
          </a:p>
          <a:p>
            <a:pPr>
              <a:spcBef>
                <a:spcPts val="1600"/>
              </a:spcBef>
              <a:defRPr sz="1350">
                <a:solidFill>
                  <a:srgbClr val="DCEBE1"/>
                </a:solidFill>
                <a:latin typeface="Calibri"/>
              </a:defRPr>
            </a:pPr>
            <a:r>
              <a:t>konteks multiskala (ASPP)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840480"/>
            <a:ext cx="3108960" cy="2286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1605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m7 MAnet</a:t>
            </a:r>
          </a:p>
          <a:p>
            <a:pPr>
              <a:spcBef>
                <a:spcPts val="800"/>
              </a:spcBef>
              <a:defRPr sz="1600">
                <a:solidFill>
                  <a:srgbClr val="78B987"/>
                </a:solidFill>
                <a:latin typeface="Calibri"/>
              </a:defRPr>
            </a:pPr>
            <a:r>
              <a:t>MiT-B3</a:t>
            </a:r>
          </a:p>
          <a:p>
            <a:pPr>
              <a:spcBef>
                <a:spcPts val="1600"/>
              </a:spcBef>
              <a:defRPr sz="1350">
                <a:solidFill>
                  <a:srgbClr val="DCEBE1"/>
                </a:solidFill>
                <a:latin typeface="Calibri"/>
              </a:defRPr>
            </a:pPr>
            <a:r>
              <a:t>atensi global (transformer)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Ide dasar model dan proses komputasi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920240" cy="1143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Citra RGB</a:t>
            </a:r>
            <a:br/>
            <a:r>
              <a:t>1024×1024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280160"/>
            <a:ext cx="1920240" cy="1143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371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Encoder pretrained</a:t>
            </a:r>
            <a:br/>
            <a:r>
              <a:t>(fitur multiskala)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280160"/>
            <a:ext cx="1920240" cy="1143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1371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Decoder + skip</a:t>
            </a:r>
            <a:br/>
            <a:r>
              <a:t>connection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280160"/>
            <a:ext cx="1920240" cy="114300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371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Logit per piksel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80160"/>
            <a:ext cx="1920240" cy="1143000"/>
          </a:xfrm>
          <a:prstGeom prst="rect">
            <a:avLst/>
          </a:prstGeom>
          <a:solidFill>
            <a:srgbClr val="D28C28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371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Blend ruang logit</a:t>
            </a:r>
            <a:br/>
            <a:r>
              <a:t>20 model + 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B24"/>
                </a:solidFill>
                <a:latin typeface="Cambria"/>
              </a:defRPr>
            </a:pPr>
            <a:r>
              <a:t>Ide dasar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Encoder menangkap tekstur dan pola petak; decoder mengembalikan batas ke resolusi penuh.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Empat keluarga arsitektur punya kesalahan berbeda, sehingga blend saling menutupi.</a:t>
            </a:r>
          </a:p>
          <a:p>
            <a:pPr>
              <a:spcBef>
                <a:spcPts val="14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Blend di ruang logit mencegah model terlalu percaya diri mendominasi.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B24"/>
                </a:solidFill>
                <a:latin typeface="Cambria"/>
              </a:defRPr>
            </a:pPr>
            <a:r>
              <a:t>Proses komputasi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4 arsitektur × 5 fold = 20 model.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Inferensi tile penuh 1024×1024 dengan 4 view D4 (0°, 90°, 180°, 270°).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Fold 0 EffNet-B4: 323 detik (RTX 5070); 5 fold 4 model: ±61 menit.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• Seed tetap 42, hasil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Konsistensi Model pada 5-Fold Validation</a:t>
            </a:r>
          </a:p>
        </p:txBody>
      </p:sp>
      <p:pic>
        <p:nvPicPr>
          <p:cNvPr id="5" name="Picture 4" descr="page_7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96696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5394960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E683E"/>
                </a:solidFill>
                <a:latin typeface="Calibri"/>
              </a:defRPr>
            </a:pPr>
            <a:r>
              <a:t>0,9103</a:t>
            </a:r>
          </a:p>
          <a:p>
            <a:pPr>
              <a:defRPr sz="1300">
                <a:solidFill>
                  <a:srgbClr val="5F6E64"/>
                </a:solidFill>
                <a:latin typeface="Calibri"/>
              </a:defRPr>
            </a:pPr>
            <a:r>
              <a:t>rata-rata 5 fold, model terbaik (m3)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5394960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54864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E683E"/>
                </a:solidFill>
                <a:latin typeface="Calibri"/>
              </a:defRPr>
            </a:pPr>
            <a:r>
              <a:t>±0,015–0,022</a:t>
            </a:r>
          </a:p>
          <a:p>
            <a:pPr>
              <a:defRPr sz="1300">
                <a:solidFill>
                  <a:srgbClr val="5F6E64"/>
                </a:solidFill>
                <a:latin typeface="Calibri"/>
              </a:defRPr>
            </a:pPr>
            <a:r>
              <a:t>simpangan antar-fold, 4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5394960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54864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E683E"/>
                </a:solidFill>
                <a:latin typeface="Calibri"/>
              </a:defRPr>
            </a:pPr>
            <a:r>
              <a:t>123 tile OOF</a:t>
            </a:r>
          </a:p>
          <a:p>
            <a:pPr>
              <a:defRPr sz="1300">
                <a:solidFill>
                  <a:srgbClr val="5F6E64"/>
                </a:solidFill>
                <a:latin typeface="Calibri"/>
              </a:defRPr>
            </a:pPr>
            <a:r>
              <a:t>seluruhnya divalidasi tanpa bocor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Fitting dan tuning model</a:t>
            </a:r>
          </a:p>
        </p:txBody>
      </p:sp>
      <p:pic>
        <p:nvPicPr>
          <p:cNvPr id="5" name="Picture 4" descr="screening_fol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9496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5029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Fitting</a:t>
            </a:r>
          </a:p>
          <a:p>
            <a:pPr>
              <a:spcBef>
                <a:spcPts val="6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Loss: 0,5 × BCE + 0,5 × Soft Dice.</a:t>
            </a:r>
          </a:p>
          <a:p>
            <a:pPr>
              <a:spcBef>
                <a:spcPts val="6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Optimizer AdamW; crop acak 512 saat latih.</a:t>
            </a:r>
          </a:p>
          <a:p>
            <a:pPr>
              <a:spcBef>
                <a:spcPts val="6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Mask2Former tidak stabil pada 123 tile; 4 model teratas dilatih penuh.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79476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39319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Tuning</a:t>
            </a:r>
          </a:p>
          <a:p>
            <a:pPr>
              <a:spcBef>
                <a:spcPts val="5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Nelder-Mead: bobot blend + τ sekaligus pada OOF.</a:t>
            </a:r>
          </a:p>
          <a:p>
            <a:pPr>
              <a:spcBef>
                <a:spcPts val="5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Bobot: m3 0,369; m4 0,253; m5 0,223; m7 0,156.</a:t>
            </a:r>
          </a:p>
          <a:p>
            <a:pPr>
              <a:spcBef>
                <a:spcPts val="5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τ = 0,465 (optimal OOF, bukan default 0,50).</a:t>
            </a:r>
          </a:p>
          <a:p>
            <a:pPr>
              <a:spcBef>
                <a:spcPts val="5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Optimal OOF Micro-IoU = 0,9178 (bebas data leakage).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Dampak Tiap Tahap Pemrosesan</a:t>
            </a:r>
          </a:p>
        </p:txBody>
      </p:sp>
      <p:pic>
        <p:nvPicPr>
          <p:cNvPr id="5" name="Picture 4" descr="ablation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37160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08760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683E"/>
                </a:solidFill>
                <a:latin typeface="Calibri"/>
              </a:defRPr>
            </a:pPr>
            <a:r>
              <a:t>+0,0068</a:t>
            </a:r>
          </a:p>
          <a:p>
            <a:pPr>
              <a:defRPr sz="1350">
                <a:solidFill>
                  <a:srgbClr val="1D2B24"/>
                </a:solidFill>
                <a:latin typeface="Calibri"/>
              </a:defRPr>
            </a:pPr>
            <a:r>
              <a:t>Equal Probability Average (4 Model @ τ=0,50)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7889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926079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683E"/>
                </a:solidFill>
                <a:latin typeface="Calibri"/>
              </a:defRPr>
            </a:pPr>
            <a:r>
              <a:t>+0,0004</a:t>
            </a:r>
          </a:p>
          <a:p>
            <a:pPr>
              <a:defRPr sz="1350">
                <a:solidFill>
                  <a:srgbClr val="1D2B24"/>
                </a:solidFill>
                <a:latin typeface="Calibri"/>
              </a:defRPr>
            </a:pPr>
            <a:r>
              <a:t>Equal Logit-Space Blend (@ opt 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20624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343400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E683E"/>
                </a:solidFill>
                <a:latin typeface="Calibri"/>
              </a:defRPr>
            </a:pPr>
            <a:r>
              <a:t>+0,0006</a:t>
            </a:r>
          </a:p>
          <a:p>
            <a:pPr>
              <a:defRPr sz="1350">
                <a:solidFill>
                  <a:srgbClr val="1D2B24"/>
                </a:solidFill>
                <a:latin typeface="Calibri"/>
              </a:defRPr>
            </a:pPr>
            <a:r>
              <a:t>Nelder-Mead Weighted Logit Blend (@ opt 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669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F6E64"/>
                </a:solidFill>
                <a:latin typeface="Calibri"/>
              </a:defRPr>
            </a:pPr>
            <a:r>
              <a:t>Setiap tahap perpaduan menaikkan skor validasi secara konsisten tanpa satupun regresi performa (+0,78% total gain).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Validasi Hasil Uji &amp; Peta Ketidakpastian Spasial</a:t>
            </a:r>
          </a:p>
        </p:txBody>
      </p:sp>
      <p:pic>
        <p:nvPicPr>
          <p:cNvPr id="5" name="Picture 4" descr="page_1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949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778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Area terang pada peta ketidakpastian = model tidak sepakat (garis tipis saluran irigasi &amp; batas petak); di sini verifikasi lapangan diarahkan.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7160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83E"/>
                </a:solidFill>
                <a:latin typeface="Calibri"/>
              </a:defRPr>
            </a:pPr>
            <a:r>
              <a:t>0,78169</a:t>
            </a:r>
          </a:p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public LB (peringkat 7)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017520"/>
            <a:ext cx="4937760" cy="1463040"/>
          </a:xfrm>
          <a:prstGeom prst="rect">
            <a:avLst/>
          </a:prstGeom>
          <a:solidFill>
            <a:srgbClr val="16352A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461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8B987"/>
                </a:solidFill>
                <a:latin typeface="Calibri"/>
              </a:defRPr>
            </a:pPr>
            <a:r>
              <a:t>0,68965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private LB (peringkat 2 nasional - Runner-Up)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66344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8920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83E"/>
                </a:solidFill>
                <a:latin typeface="Calibri"/>
              </a:defRPr>
            </a:pPr>
            <a:r>
              <a:t>44,3%</a:t>
            </a:r>
          </a:p>
          <a:p>
            <a:pPr>
              <a:defRPr sz="1400">
                <a:solidFill>
                  <a:srgbClr val="1D2B24"/>
                </a:solidFill>
                <a:latin typeface="Calibri"/>
              </a:defRPr>
            </a:pPr>
            <a:r>
              <a:t>rata-rata piksel sawah terprediksi per tile uji (129 tile)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Business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502920" cy="50292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B24"/>
                </a:solidFill>
                <a:latin typeface="Cambria"/>
              </a:defRPr>
            </a:pPr>
            <a:r>
              <a:t>Pemantauan penyusutan</a:t>
            </a:r>
            <a:br/>
            <a:r>
              <a:t>lahan jadi permukiman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Luas baku sawah Banten turun 194 → 187 ribu ha (2026); data alih fungsi 2011–2025 diminta dibuka.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yang sama dijalankan pada citra beberapa tahun, hasilnya laju kehilangan sawah dan titik rawan.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Status: rancangan, butuh citra multi-tahun.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2E683E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16459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683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Alokasi pupuk berbasis</a:t>
            </a:r>
            <a:br/>
            <a:r>
              <a:t>luasan</a:t>
            </a:r>
          </a:p>
          <a:p>
            <a:pPr>
              <a:spcBef>
                <a:spcPts val="1000"/>
              </a:spcBef>
              <a:defRPr sz="1300">
                <a:solidFill>
                  <a:srgbClr val="E1F0E6"/>
                </a:solidFill>
                <a:latin typeface="Calibri"/>
              </a:defRPr>
            </a:pPr>
            <a:r>
              <a:t>• 2018: luas baku 7,7 → 7,1 juta ha, alokasi pupuk subsidi dipangkas 9,55 → 8,8 juta ton.</a:t>
            </a:r>
          </a:p>
          <a:p>
            <a:pPr>
              <a:spcBef>
                <a:spcPts val="1000"/>
              </a:spcBef>
              <a:defRPr sz="1300">
                <a:solidFill>
                  <a:srgbClr val="E1F0E6"/>
                </a:solidFill>
                <a:latin typeface="Calibri"/>
              </a:defRPr>
            </a:pPr>
            <a:r>
              <a:t>• Setelah verifikasi 2020 (7,46 juta ha), Kementan mengajukan tambahan 1 juta ton (Rp3,1 T).</a:t>
            </a:r>
          </a:p>
          <a:p>
            <a:pPr>
              <a:spcBef>
                <a:spcPts val="1000"/>
              </a:spcBef>
              <a:defRPr sz="1300">
                <a:solidFill>
                  <a:srgbClr val="E1F0E6"/>
                </a:solidFill>
                <a:latin typeface="Calibri"/>
              </a:defRPr>
            </a:pPr>
            <a:r>
              <a:t>• Luas yang lebih akurat dari model membantu alokasi lebih tepat.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B24"/>
                </a:solidFill>
                <a:latin typeface="Cambria"/>
              </a:defRPr>
            </a:pPr>
            <a:r>
              <a:t>Validasi silang kesalahan</a:t>
            </a:r>
            <a:br/>
            <a:r>
              <a:t>data lahan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Mentan 2018: 92% sampel KSA tidak akurat; selisih antar-sumber 1.037.800 ha.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Ombudsman 2022: data e-RDKK memuat luas lahan homogen dan tidak akurat.</a:t>
            </a:r>
          </a:p>
          <a:p>
            <a:pPr>
              <a:spcBef>
                <a:spcPts val="10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jadi pembanding independen: tandai area yang tidak cocok untuk dicek ulang.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2331720"/>
          </a:xfrm>
          <a:prstGeom prst="rect">
            <a:avLst/>
          </a:prstGeom>
          <a:solidFill>
            <a:srgbClr val="16352A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572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8B987"/>
                </a:solidFill>
                <a:latin typeface="Calibri"/>
              </a:defRPr>
            </a:pPr>
            <a:r>
              <a:t>0,9178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Micro-IoU OOF validasi akhir dari ensemble 4 arsitektur × 5 fold pada ruang logit unconstrained.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91640"/>
            <a:ext cx="4572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83E"/>
                </a:solidFill>
                <a:latin typeface="Cambria"/>
              </a:defRPr>
            </a:pPr>
            <a:r>
              <a:t>Potensi Pemanfaatan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Mendukung pemantauan penyusutan lahan pangan, penyediaan data luasan objektif, dan validasi silang subsidi pupuk.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5212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97679"/>
            <a:ext cx="4572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83E"/>
                </a:solidFill>
                <a:latin typeface="Cambria"/>
              </a:defRPr>
            </a:pPr>
            <a:r>
              <a:t>Terukur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Luas, jumlah petak, dan batas sawah dalam hektare (0,5 m/piksel), dilengkapi peta ketidakpastian spasial untuk panduan survei lapangan.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77639"/>
            <a:ext cx="5212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4297679"/>
            <a:ext cx="4572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83E"/>
                </a:solidFill>
                <a:latin typeface="Cambria"/>
              </a:defRPr>
            </a:pPr>
            <a:r>
              <a:t>Batas klaim</a:t>
            </a:r>
          </a:p>
          <a:p>
            <a:pPr>
              <a:spcBef>
                <a:spcPts val="1200"/>
              </a:spcBef>
              <a:defRPr sz="1500">
                <a:solidFill>
                  <a:srgbClr val="1D2B24"/>
                </a:solidFill>
                <a:latin typeface="Calibri"/>
              </a:defRPr>
            </a:pPr>
            <a:r>
              <a:t>Model mendeteksi dan mengukur tutupan sawah aktif secara presisi; pemantauan alih fungsi multi-tahun membutuhkan pasokan citra historis berkala.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mbria"/>
              </a:defRPr>
            </a:pPr>
            <a:r>
              <a:t>Terima kasih</a:t>
            </a:r>
          </a:p>
          <a:p>
            <a:br/>
            <a:pPr>
              <a:defRPr sz="1900" i="1">
                <a:solidFill>
                  <a:srgbClr val="DCEBE1"/>
                </a:solidFill>
                <a:latin typeface="Calibri"/>
              </a:defRPr>
            </a:pPr>
            <a:r>
              <a:t>Dari citra ke hektare: data sawah yang terukur untuk menjaga lahan</a:t>
            </a:r>
            <a:br/>
            <a:r>
              <a:t>pangan.</a:t>
            </a:r>
          </a:p>
          <a:p>
            <a:br/>
            <a:pPr>
              <a:defRPr sz="1800" b="1">
                <a:solidFill>
                  <a:srgbClr val="78B987"/>
                </a:solidFill>
                <a:latin typeface="Calibri"/>
              </a:defRPr>
            </a:pPr>
            <a:r>
              <a:t>Silakan bertanya</a:t>
            </a:r>
          </a:p>
          <a:p>
            <a:br/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Jeremy  •  Ababil  •  Vierico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8B987"/>
                </a:solidFill>
                <a:latin typeface="Cambria"/>
              </a:defRPr>
            </a:pPr>
            <a:r>
              <a:t>APPENDIX / BACKUP SLIDES</a:t>
            </a:r>
          </a:p>
          <a:p>
            <a:pPr>
              <a:defRPr sz="1800" i="1">
                <a:solidFill>
                  <a:srgbClr val="FFFFFF"/>
                </a:solidFill>
                <a:latin typeface="Calibri"/>
              </a:defRPr>
            </a:pPr>
            <a:r>
              <a:t>Dokumentasi Teknis Lengkap, Formula Matematika, &amp; Panduan Q&amp;A Dewan Juri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A-1 : Formulasi Matematis Logit Blending &amp; Nelder-Mead Optimization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A-2 : Kurva Sensitivitas Threshold &amp; Trade-off Precision-Recall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A-3 : Rincian Arsitektur, Loss Function, &amp; Hyperparameter Pelatihan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A-4 : Penanganan NoData Boundary (Border Swath) &amp; Rule D-002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A-5 : Audit Radiometrik &amp; Normalisasi Pleiades vs ImageNet (KS-Test)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A-6 : Analisis Indeks Spektral NGRDI (Ketiadaan Kanal NIR)</a:t>
            </a:r>
          </a:p>
          <a:p>
            <a:pPr>
              <a:spcBef>
                <a:spcPts val="800"/>
              </a:spcBef>
              <a:defRPr sz="1500">
                <a:solidFill>
                  <a:srgbClr val="DCEBE1"/>
                </a:solidFill>
                <a:latin typeface="Calibri"/>
              </a:defRPr>
            </a:pPr>
            <a:r>
              <a:t>• A-7 : Analisis Dinamika Leaderboard (Private LB Shake-up +5 Posisi)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Formulasi Matematis Logit Blending &amp; Nelder-Mead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Mengapa di Ruang Logit?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Rata-rata linear probabilitas rentan terdistorsi (squashing) pada nilai batas ekstrem 0 dan 1.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Transformasi ke ruang unconstrained logit:</a:t>
            </a:r>
            <a:br/>
            <a:r>
              <a:t>  z_i = Σ w_m · ln[ p_m / (1 - p_m + ε) ]</a:t>
            </a:r>
            <a:br/>
            <a:r>
              <a:t>  dengan constraint: w_m ≥ 0 dan Σ w_m = 1.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Inverse logistic function mengembalikan keyakinan:</a:t>
            </a:r>
            <a:br/>
            <a:r>
              <a:t>  P_ensemble = 1 / (1 + exp(-z_i))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Mempertahankan ketajaman kontur batas sawah dan memfasilitasi kompensasi antar model arsitektur.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Optimasi Simplex Nelder-Mead OOF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Fungsi Objektif: Memaksimalkan Micro-IoU Out-of-Fold 123 tile latih secara simultan:</a:t>
            </a:r>
            <a:br/>
            <a:r>
              <a:t>  max_{w, τ}  TP / (TP + FP + FN)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Konvergensi Bobot OOF (Bebas Leakage):</a:t>
            </a:r>
            <a:br/>
            <a:r>
              <a:t>  • Model 3 (U-Net SE-ResNeXt50) : 0,3690 (36,9%)</a:t>
            </a:r>
            <a:br/>
            <a:r>
              <a:t>  • Model 4 (U-Net EffNet-B4)    : 0,2529 (25,3%)</a:t>
            </a:r>
            <a:br/>
            <a:r>
              <a:t>  • Model 5 (DeepLabV3+ ResNeXt) : 0,2225 (22,3%)</a:t>
            </a:r>
            <a:br/>
            <a:r>
              <a:t>  • Model 7 (MAnet MiT-B3)       : 0,1556 (15,6%)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Optimal Global Threshold : τ = 0,4652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Hasil Micro-IoU OOF Puncak : 0,9178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Kurva Sensitivitas Threshold &amp; Trade-off Precision-Recall</a:t>
            </a:r>
          </a:p>
        </p:txBody>
      </p:sp>
      <p:pic>
        <p:nvPicPr>
          <p:cNvPr id="5" name="Picture 4" descr="cell_14b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94960" cy="4846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Dinamika Threshold Sensitivitas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Kurva Sensitivitas Cekung Mulus:</a:t>
            </a:r>
            <a:br/>
            <a:r>
              <a:t>Menunjukkan titik puncak optimal yang stabil pada τ = 0,4652 dengan skor Micro-IoU = 0,9178.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Mengapa Bukan Default 0,50?</a:t>
            </a:r>
            <a:br/>
            <a:r>
              <a:t>Pada threshold 0,50 standar, model mengalami penalti under-prediction pada pematang sempit dan genangan air awal tanam.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Mixed-Pixel Phenomenon (GSD 0,5 m):</a:t>
            </a:r>
            <a:br/>
            <a:r>
              <a:t>Pematang selebar 1–2 piksel menghasilkan probabilitas di rentang 0,40–0,48. Ambang batas 0,465 memberikan trade-off recall-precision optimal tanpa membocorkan false positive pada pemukiman.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Ketahanan Generalisasi:</a:t>
            </a:r>
            <a:br/>
            <a:r>
              <a:t>Kurva tidak runcing (stabil di rentang 0,44–0,48), membuktikan model tidak rapuh terhadap fluktuasi threshold.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Rincian Arsitektur, Loss, &amp; Hyperparameter Pelatihan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Spesifikasi 4 Arsitektur Juara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3 : U-Net + SE-ResNeXt50</a:t>
            </a:r>
            <a:br/>
            <a:r>
              <a:t>• Params: 34.5M | Fold Mean: 0.9103</a:t>
            </a:r>
            <a:br/>
            <a:r>
              <a:t>• Keunggulan: Squeeze-and-Excitation channel attention.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4 : U-Net + EfficientNet-B4</a:t>
            </a:r>
            <a:br/>
            <a:r>
              <a:t>• Params: 20.1M | Fold Mean: 0.9041</a:t>
            </a:r>
            <a:br/>
            <a:r>
              <a:t>• Keunggulan: Compound scaling efisien, stabil di semua fold.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5 : DeepLabV3+ + ResNeXt50</a:t>
            </a:r>
            <a:br/>
            <a:r>
              <a:t>• Params: 26.1M | Fold Mean: 0.8997</a:t>
            </a:r>
            <a:br/>
            <a:r>
              <a:t>• Keunggulan: ASPP multi-scale receptive field.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Model 7 : MAnet + MiT-B3 (Transformer)</a:t>
            </a:r>
            <a:br/>
            <a:r>
              <a:t>• Params: 47.4M | Fold Mean: 0.8894</a:t>
            </a:r>
            <a:br/>
            <a:r>
              <a:t>• Keunggulan: Multi-scale attention transformer global.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71600"/>
            <a:ext cx="4937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Protokol Pelatihan &amp; Komputasi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Compound Loss Function:</a:t>
            </a:r>
            <a:br/>
            <a:r>
              <a:t>  L = 0,5 × L_BCEWithLogits + 0,5 × L_SoftDice</a:t>
            </a:r>
            <a:br/>
            <a:r>
              <a:t>Menyeimbangkan gradien piksel per piksel dan overlap global.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Optimizer &amp; Learning Rate:</a:t>
            </a:r>
            <a:br/>
            <a:r>
              <a:t>• AdamW (lr=3e-4, weight_decay=1e-4)</a:t>
            </a:r>
            <a:br/>
            <a:r>
              <a:t>• CosineAnnealingLR (T_max=30, min_lr=1e-6)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Dimensi &amp; Batching:</a:t>
            </a:r>
            <a:br/>
            <a:r>
              <a:t>• Crop acak: 512×512 | Batch size: 8</a:t>
            </a:r>
            <a:br/>
            <a:r>
              <a:t>• Augmentasi D4 (rotasi 4 sudut, flip H/V, brightness/contrast)</a:t>
            </a:r>
          </a:p>
          <a:p>
            <a:pPr>
              <a:spcBef>
                <a:spcPts val="800"/>
              </a:spcBef>
              <a:defRPr sz="1300">
                <a:solidFill>
                  <a:srgbClr val="1D2B24"/>
                </a:solidFill>
                <a:latin typeface="Calibri"/>
              </a:defRPr>
            </a:pPr>
            <a:r>
              <a:t>• Infrastruktur Akselerasi:</a:t>
            </a:r>
            <a:br/>
            <a:r>
              <a:t>• GPU NVIDIA GeForce RTX 5070 (12 GB VRAM)</a:t>
            </a:r>
            <a:br/>
            <a:r>
              <a:t>• Mixed Precision FP16 (PyTorch AMP) | Total: 61,1 menit.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Penanganan NoData Boundary (Border Swath) &amp; Rule D-002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Audit Batas Orbit Satelit (NoData)</a:t>
            </a:r>
          </a:p>
          <a:p>
            <a:pPr>
              <a:spcBef>
                <a:spcPts val="14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Asal-usul Batas Hitam [0, 0, 0]:</a:t>
            </a:r>
            <a:br/>
            <a:r>
              <a:t>Terbentuk akibat perpotongan sudut orbit satelit Pleiades (swath polygon boundary) pada tile mosaik.</a:t>
            </a:r>
          </a:p>
          <a:p>
            <a:pPr>
              <a:spcBef>
                <a:spcPts val="14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Statistik NoData:</a:t>
            </a:r>
            <a:br/>
            <a:r>
              <a:t>• Rerata area NoData: 18,95% (train) dan 14,07% (test).</a:t>
            </a:r>
            <a:br/>
            <a:r>
              <a:t>• 22 tile latih (17,9%) dan 12 tile uji (9,3%) memiliki NoData &gt; 50%.</a:t>
            </a:r>
          </a:p>
          <a:p>
            <a:pPr>
              <a:spcBef>
                <a:spcPts val="14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Integritas Ground Truth Latih:</a:t>
            </a:r>
            <a:br/>
            <a:r>
              <a:t>Pada SELURUH piksel NoData [0, 0, 0], persentase sawah adalah tepat 0,00% (tidak pernah ada sawah di area hitam orbit).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Aturan Determinis Rule D-002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Formula Post-Processing Deterministik:</a:t>
            </a:r>
            <a:br/>
            <a:r>
              <a:t>  pred_mask[img == [0, 0, 0]] = 0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Mengapa Langkah Ini Sangat Penting?</a:t>
            </a:r>
            <a:br/>
            <a:r>
              <a:t>Operasi konvolusi dan atensi transformer dapat melakukan 'kebocoran tekstur' (bleeding artifact) di sepanjang garis diagonal hitam, memicu false positive berat.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Thresholding Adaptif Terhadap NoData:</a:t>
            </a:r>
            <a:br/>
            <a:r>
              <a:t>  τ_local = max(0.20, BASE_TAU - 0.25 × nodata_pct)</a:t>
            </a:r>
            <a:br/>
            <a:r>
              <a:t>Menyesuaikan ambang batas pada tile yang terpotong parah untuk menjaga recall.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Dampak Evaluasi:</a:t>
            </a:r>
            <a:br/>
            <a:r>
              <a:t>Menghapus 100% false-positive pada tepian orbit hitam secara lossless.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Audit Radiometrik &amp; Normalisasi Pleiades vs ImageNet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Normalisasi Spektral Pleiades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Statistik Empiris Dataset Pleiades:</a:t>
            </a:r>
            <a:br/>
            <a:r>
              <a:t>• Mean : [0.3230, 0.3372, 0.3593] (R, G, B)</a:t>
            </a:r>
            <a:br/>
            <a:r>
              <a:t>• Std  : [0.2069, 0.1901, 0.1848]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Bandingkan dengan ImageNet Default:</a:t>
            </a:r>
            <a:br/>
            <a:r>
              <a:t>• Mean : [0.4850, 0.4560, 0.4060]</a:t>
            </a:r>
            <a:br/>
            <a:r>
              <a:t>• Std  : [0.2290, 0.2240, 0.2250]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Justifikasi Radiometrik:</a:t>
            </a:r>
            <a:br/>
            <a:r>
              <a:t>Citra satelit Pleiades jauh lebih gelap dan pekat secara spektral dibanding foto natural ImageNet.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Dampak Pelatihan:</a:t>
            </a:r>
            <a:br/>
            <a:r>
              <a:t>Normalisasi spesifik mencegah distorsi aktivasi fitur konvolusi lapisan awal (first-layer activation) dan menjaga kestabilan gradien.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Uji Covariate Shift (Kolmogorov-Smirnov)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Tujuan Uji Statistik:</a:t>
            </a:r>
            <a:br/>
            <a:r>
              <a:t>Menguji hipotesis nol (H0) apakah distribusi intensitas kanal RGB antara citra Train dan Test identik.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Hasil Statistik Uji Dua Sampel KS:</a:t>
            </a:r>
            <a:br/>
            <a:r>
              <a:t>• Kanal Merah (R) : KS = 0,0197</a:t>
            </a:r>
            <a:br/>
            <a:r>
              <a:t>• Kanal Hijau (G) : KS = 0,0374</a:t>
            </a:r>
            <a:br/>
            <a:r>
              <a:t>• Kanal Biru (B)  : KS = 0,0405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Interpretasi Keputusan:</a:t>
            </a:r>
            <a:br/>
            <a:r>
              <a:t>Seluruh statistik uji berada jauh di bawah ambang batas kritis 0,05 (p-value &gt; 0,05).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Kesimpulan Ilmiah:</a:t>
            </a:r>
            <a:br/>
            <a:r>
              <a:t>Tidak ditemukan covariate shift radiometrik yang signifikan. Distribusi sensor, elevasi matahari, dan kalibrasi atmosferik homogen antara train dan 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Analisis Indeks Spektral NGRDI (Ketiadaan Kanal NIR)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Substitusi NDVI: Indeks NGRDI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Tantangan Spektral:</a:t>
            </a:r>
            <a:br/>
            <a:r>
              <a:t>Dataset Pleiades hanya memuat 3 kanal tampak (RGB) tanpa kanal Inframerah Dekat (Near-Infrared / NIR), sehingga indeks NDVI standar tidak dapat dihitung.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Formulasi NGRDI (Normalized Green-Red Difference Index):</a:t>
            </a:r>
            <a:br/>
            <a:r>
              <a:t>  NGRDI = (G - R) / (G + R + ε)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Daya Pisah Spektral Empiris:</a:t>
            </a:r>
            <a:br/>
            <a:r>
              <a:t>• Rerata NGRDI Sawah    : +0,0320</a:t>
            </a:r>
            <a:br/>
            <a:r>
              <a:t>• Rerata NGRDI Non-Sawah: +0,0154</a:t>
            </a:r>
          </a:p>
          <a:p>
            <a:pPr>
              <a:spcBef>
                <a:spcPts val="10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Indikasi Biologis:</a:t>
            </a:r>
            <a:br/>
            <a:r>
              <a:t>Sawah aktif memperlihatkan nilai NGRDI positif yang konsisten karena dominasi pantulan hijau klorofil tanaman padi muda.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Peran Prior Spasial &amp; Tekstur Mendalam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Bagaimana Membedakan Sawah vs Pohon / Semak?</a:t>
            </a:r>
            <a:br/>
            <a:r>
              <a:t>Tanpa NIR, model tidak hanya mengandalkan nilai spektral warna, melainkan memanfaatkan representasi spasial mendalam (deep spatial representation):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1. Pola Geometris Teratur:</a:t>
            </a:r>
            <a:br/>
            <a:r>
              <a:t>Petak sawah memiliki batas pematang garis lurus (bunds), sudut ortogonal, dan terasering berundak.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2. Tekstur Permukaan Homogen:</a:t>
            </a:r>
            <a:br/>
            <a:r>
              <a:t>Permukaan air dan tanaman sawah seragam secara lokal, sangat berbeda dari ketidakteraturan tajuk kanopi pohon (rough canopy texture).</a:t>
            </a:r>
          </a:p>
          <a:p>
            <a:pPr>
              <a:spcBef>
                <a:spcPts val="800"/>
              </a:spcBef>
              <a:defRPr sz="1350">
                <a:solidFill>
                  <a:srgbClr val="1D2B24"/>
                </a:solidFill>
                <a:latin typeface="Calibri"/>
              </a:defRPr>
            </a:pPr>
            <a:r>
              <a:t>• 3. Integrasi Multi-Scale Context:</a:t>
            </a:r>
            <a:br/>
            <a:r>
              <a:t>Modul ASPP dan Transformer MiT-B3 mengkorelasikan konteks petak dengan jaringan saluran irigasi.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594360" cy="594360"/>
          </a:xfrm>
          <a:prstGeom prst="ellipse">
            <a:avLst/>
          </a:prstGeom>
          <a:solidFill>
            <a:srgbClr val="2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754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D2B24"/>
                </a:solidFill>
                <a:latin typeface="Cambria"/>
              </a:defRPr>
            </a:pPr>
            <a:r>
              <a:t>Dinamika Private Leaderboard (Shake-up Analysis)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Bukti Ketahanan Generalisasi</a:t>
            </a:r>
          </a:p>
          <a:p>
            <a:pPr>
              <a:spcBef>
                <a:spcPts val="12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Public Leaderboard (55% slice uji):</a:t>
            </a:r>
            <a:br/>
            <a:r>
              <a:t>• Skor: 0,78169 | Peringkat 7</a:t>
            </a:r>
          </a:p>
          <a:p>
            <a:pPr>
              <a:spcBef>
                <a:spcPts val="12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Private Leaderboard (45% slice penentuan):</a:t>
            </a:r>
            <a:br/>
            <a:r>
              <a:t>• Skor: 0,68965 | Peringkat 2 Nasional (Runner-Up)</a:t>
            </a:r>
          </a:p>
          <a:p>
            <a:pPr>
              <a:spcBef>
                <a:spcPts val="12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Dinamika Kenaikan Peringkat:</a:t>
            </a:r>
            <a:br/>
            <a:r>
              <a:t>Tim melonjak naik +5 POSISI ke peringkat 2 nasional!</a:t>
            </a:r>
          </a:p>
          <a:p>
            <a:pPr>
              <a:spcBef>
                <a:spcPts val="1200"/>
              </a:spcBef>
              <a:defRPr sz="1450">
                <a:solidFill>
                  <a:srgbClr val="1D2B24"/>
                </a:solidFill>
                <a:latin typeface="Calibri"/>
              </a:defRPr>
            </a:pPr>
            <a:r>
              <a:t>• Selisih Sangat Tipis dari Juara 1:</a:t>
            </a:r>
            <a:br/>
            <a:r>
              <a:t>Skor Juara 1 adalah 0,69137 (hanya selisih 0,0017 atau 0,17% dari solusi kami).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83E"/>
                </a:solidFill>
                <a:latin typeface="Cambria"/>
              </a:defRPr>
            </a:pPr>
            <a:r>
              <a:t>Mengapa Solusi Kami Tahan Shake-up?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1. Zero Leakage Calibration:</a:t>
            </a:r>
            <a:br/>
            <a:r>
              <a:t>Threshold dan bobot dituning murni pada OOF 5-fold tanpa menyentuh data test. Tim lain yang melakukan probing/overfit ke Public LB mengalami shake-down parah saat diuji pada private set.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2. Stratified Cross-Validation:</a:t>
            </a:r>
            <a:br/>
            <a:r>
              <a:t>Pembagian fold berbasis kuantil tutupan sawah menjaga kestabilan estimasi performa.</a:t>
            </a:r>
          </a:p>
          <a:p>
            <a:pPr>
              <a:spcBef>
                <a:spcPts val="1200"/>
              </a:spcBef>
              <a:defRPr sz="1400">
                <a:solidFill>
                  <a:srgbClr val="1D2B24"/>
                </a:solidFill>
                <a:latin typeface="Calibri"/>
              </a:defRPr>
            </a:pPr>
            <a:r>
              <a:t>• 3. Multi-Family Architecture Ensembling:</a:t>
            </a:r>
            <a:br/>
            <a:r>
              <a:t>Perpaduan CNN lokal (U-Net), multiscale pooling (DeepLabV3+), dan global transformer (MAnet) menghasilkan prediksi ensemble yang sangat robust terhadap variasi petak sawah baru.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