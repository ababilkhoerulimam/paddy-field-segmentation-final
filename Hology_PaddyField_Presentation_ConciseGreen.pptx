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print_grid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52C47E"/>
                </a:solidFill>
                <a:latin typeface="Segoe UI"/>
              </a:defRPr>
            </a:pPr>
            <a:r>
              <a:t>HOLOMINE · HOLOGY 9.0 · UNIVERSITAS BRAWIJAYA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40080"/>
            <a:ext cx="35661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>
                <a:solidFill>
                  <a:srgbClr val="FFFFFF"/>
                </a:solidFill>
                <a:latin typeface="Segoe UI"/>
              </a:defRPr>
            </a:pPr>
            <a:r>
              <a:t>Babak Final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62179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Segoe UI"/>
              </a:defRPr>
            </a:pPr>
            <a:r>
              <a:t>Membaca Sawah</a:t>
            </a:r>
            <a:br/>
            <a:r>
              <a:t>Dari Langit</a:t>
            </a:r>
          </a:p>
          <a:p>
            <a:br/>
            <a:pPr>
              <a:defRPr sz="1600">
                <a:solidFill>
                  <a:srgbClr val="D2EBDC"/>
                </a:solidFill>
                <a:latin typeface="Segoe UI"/>
              </a:defRPr>
            </a:pPr>
            <a:r>
              <a:t>Segmentasi semantik citra satelit Pleiades 0,5m Tangerang Sepatan Timur dengan multi-family ensemble bebas leakage.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62179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>
                <a:solidFill>
                  <a:srgbClr val="52C47E"/>
                </a:solidFill>
                <a:latin typeface="Segoe UI"/>
              </a:defRPr>
            </a:pPr>
            <a:r>
              <a:t>Presented By:</a:t>
            </a:r>
          </a:p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Jeremy  •  Ababil Khoerul Imam  •  Vierico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63040"/>
            <a:ext cx="40233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1_img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508760"/>
            <a:ext cx="3931920" cy="2194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0" y="3977639"/>
            <a:ext cx="40233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ge_1_img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4023360"/>
            <a:ext cx="393192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03524"/>
                </a:solidFill>
                <a:latin typeface="Segoe UI"/>
              </a:defRPr>
            </a:pPr>
            <a:r>
              <a:t>MASALAHNYA: </a:t>
            </a:r>
            <a:r>
              <a:rPr sz="2000" b="1">
                <a:solidFill>
                  <a:srgbClr val="103524"/>
                </a:solidFill>
                <a:latin typeface="Segoe UI"/>
              </a:rPr>
              <a:t>DATA SAWAH NASIONAL MASIH BERBEDA HINGGA JUTAAN HEKTAR</a:t>
            </a:r>
          </a:p>
          <a:p>
            <a:pPr>
              <a:spcBef>
                <a:spcPts val="400"/>
              </a:spcBef>
              <a:defRPr sz="1300">
                <a:solidFill>
                  <a:srgbClr val="697A70"/>
                </a:solidFill>
                <a:latin typeface="Segoe UI"/>
              </a:defRPr>
            </a:pPr>
            <a:r>
              <a:t>Segmentasi satelit otomatis sangat dibutuhkan untuk mengawal alokasi pupuk dan kebijakan pangan.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29260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SAMPEL TIDAK AKURAT</a:t>
            </a:r>
          </a:p>
          <a:p>
            <a:pPr>
              <a:spcBef>
                <a:spcPts val="200"/>
              </a:spcBef>
              <a:defRPr sz="2800" b="1">
                <a:solidFill>
                  <a:srgbClr val="103524"/>
                </a:solidFill>
                <a:latin typeface="Segoe UI"/>
              </a:defRPr>
            </a:pPr>
            <a:r>
              <a:t>92%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sampel KSA satelit lama diragukan (Kementan 2018)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00200"/>
            <a:ext cx="29260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SELISIH DATA NASIONAL</a:t>
            </a:r>
          </a:p>
          <a:p>
            <a:pPr>
              <a:spcBef>
                <a:spcPts val="200"/>
              </a:spcBef>
              <a:defRPr sz="2800" b="1">
                <a:solidFill>
                  <a:srgbClr val="267344"/>
                </a:solidFill>
                <a:latin typeface="Segoe UI"/>
              </a:defRPr>
            </a:pPr>
            <a:r>
              <a:t>7,1 vs 7,46 jt ha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luas baku sawah: penetapan 2018 vs verifikasi 2020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00200"/>
            <a:ext cx="29260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IMPLIKASI ANGGARAN</a:t>
            </a:r>
          </a:p>
          <a:p>
            <a:pPr>
              <a:spcBef>
                <a:spcPts val="200"/>
              </a:spcBef>
              <a:defRPr sz="2800" b="1">
                <a:solidFill>
                  <a:srgbClr val="103524"/>
                </a:solidFill>
                <a:latin typeface="Segoe UI"/>
              </a:defRPr>
            </a:pPr>
            <a:r>
              <a:t>Rp3,1 Triliun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usulan kuota subsidi tambahan akibat koreksi luasan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61264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00400"/>
            <a:ext cx="5577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3524"/>
                </a:solidFill>
                <a:latin typeface="Segoe UI"/>
              </a:defRPr>
            </a:pPr>
            <a:r>
              <a:t>Tiga Fakta Kunci Lomba</a:t>
            </a:r>
          </a:p>
          <a:p>
            <a:pPr>
              <a:spcBef>
                <a:spcPts val="8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123 Tile Pleiades : </a:t>
            </a:r>
            <a:r>
              <a:rPr b="0">
                <a:solidFill>
                  <a:srgbClr val="18261E"/>
                </a:solidFill>
              </a:rPr>
              <a:t>Citra resolusi tinggi 0,5 m/px tanpa kanal Near-Infrared.</a:t>
            </a:r>
          </a:p>
          <a:p>
            <a:pPr>
              <a:spcBef>
                <a:spcPts val="8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Metrik Airbus : </a:t>
            </a:r>
            <a:r>
              <a:rPr b="0">
                <a:solidFill>
                  <a:srgbClr val="18261E"/>
                </a:solidFill>
              </a:rPr>
              <a:t>Proporsi tile yang lolos multi-ambang IoU 0,50–0,95.</a:t>
            </a:r>
          </a:p>
          <a:p>
            <a:pPr>
              <a:spcBef>
                <a:spcPts val="8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Runner-Up Nasional : </a:t>
            </a:r>
            <a:r>
              <a:rPr b="0">
                <a:solidFill>
                  <a:srgbClr val="18261E"/>
                </a:solidFill>
              </a:rPr>
              <a:t>Private LB 0,68965, melonjak naik +5 peringkat pada evaluasi akhir.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3017520"/>
            <a:ext cx="42976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3200400"/>
            <a:ext cx="374903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3524"/>
                </a:solidFill>
                <a:latin typeface="Segoe UI"/>
              </a:defRPr>
            </a:pPr>
            <a:r>
              <a:t>Tantangan Fisik Lapangan</a:t>
            </a:r>
          </a:p>
          <a:p>
            <a:pPr>
              <a:spcBef>
                <a:spcPts val="8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Survei Manual Lambat : </a:t>
            </a:r>
            <a:r>
              <a:rPr b="0">
                <a:solidFill>
                  <a:srgbClr val="18261E"/>
                </a:solidFill>
              </a:rPr>
              <a:t>Survei terestrial BPS butuh waktu bulanan &amp; biaya tinggi.</a:t>
            </a:r>
          </a:p>
          <a:p>
            <a:pPr>
              <a:spcBef>
                <a:spcPts val="8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Resolusi Rendah Gagal : </a:t>
            </a:r>
            <a:r>
              <a:rPr b="0">
                <a:solidFill>
                  <a:srgbClr val="18261E"/>
                </a:solidFill>
              </a:rPr>
              <a:t>Satelit 10m (Sentinel) gagal pisahkan pematang tipis.</a:t>
            </a:r>
          </a:p>
          <a:p>
            <a:pPr>
              <a:spcBef>
                <a:spcPts val="8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Pleiades 0,5m Menjawab : </a:t>
            </a:r>
            <a:r>
              <a:rPr b="0">
                <a:solidFill>
                  <a:srgbClr val="18261E"/>
                </a:solidFill>
              </a:rPr>
              <a:t>Mendeteksi kontur batas pematang dan petak mikro.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77840"/>
            <a:ext cx="10698480" cy="502920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F5E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669279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A67308"/>
                </a:solidFill>
                <a:latin typeface="Segoe UI"/>
              </a:defRPr>
            </a:pPr>
            <a:r>
              <a:t>Intinya: </a:t>
            </a:r>
            <a:r>
              <a:rPr sz="1250" b="0">
                <a:solidFill>
                  <a:srgbClr val="A67308"/>
                </a:solidFill>
                <a:latin typeface="Segoe UI"/>
              </a:rPr>
              <a:t>salah ukur luas sawah berisiko salah alokasi triliunan rupiah subsidi pupuk nasional.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03524"/>
                </a:solidFill>
                <a:latin typeface="Segoe UI"/>
              </a:defRPr>
            </a:pPr>
            <a:r>
              <a:t>DATASET LOMBA: </a:t>
            </a:r>
            <a:r>
              <a:rPr sz="2000" b="1">
                <a:solidFill>
                  <a:srgbClr val="103524"/>
                </a:solidFill>
                <a:latin typeface="Segoe UI"/>
              </a:rPr>
              <a:t>123 TILE LATIH DENGAN TUTUPAN TIMPANG &amp; ANOMALI NODATA</a:t>
            </a:r>
          </a:p>
          <a:p>
            <a:pPr>
              <a:spcBef>
                <a:spcPts val="400"/>
              </a:spcBef>
              <a:defRPr sz="1300">
                <a:solidFill>
                  <a:srgbClr val="697A70"/>
                </a:solidFill>
                <a:latin typeface="Segoe UI"/>
              </a:defRPr>
            </a:pPr>
            <a:r>
              <a:t>Audit integritas menemukan 4 karakteristik spasial ekstrem yang menuntut mitigasi khusus.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20574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TILE LATIH / UJI</a:t>
            </a:r>
          </a:p>
          <a:p>
            <a:pPr>
              <a:spcBef>
                <a:spcPts val="200"/>
              </a:spcBef>
              <a:defRPr sz="2800" b="1">
                <a:solidFill>
                  <a:srgbClr val="103524"/>
                </a:solidFill>
                <a:latin typeface="Segoe UI"/>
              </a:defRPr>
            </a:pPr>
            <a:r>
              <a:t>123 / 129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123 train, 129 test (71 pub, 58 priv)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1732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1554480"/>
            <a:ext cx="20574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DIMENSI CITRA</a:t>
            </a:r>
          </a:p>
          <a:p>
            <a:pPr>
              <a:spcBef>
                <a:spcPts val="200"/>
              </a:spcBef>
              <a:defRPr sz="2800" b="1">
                <a:solidFill>
                  <a:srgbClr val="103524"/>
                </a:solidFill>
                <a:latin typeface="Segoe UI"/>
              </a:defRPr>
            </a:pPr>
            <a:r>
              <a:t>1024×1024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Resolusi spasial 0,5 meter/piksel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20574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RERATA TUTUPAN</a:t>
            </a:r>
          </a:p>
          <a:p>
            <a:pPr>
              <a:spcBef>
                <a:spcPts val="200"/>
              </a:spcBef>
              <a:defRPr sz="2800" b="1">
                <a:solidFill>
                  <a:srgbClr val="103524"/>
                </a:solidFill>
                <a:latin typeface="Segoe UI"/>
              </a:defRPr>
            </a:pPr>
            <a:r>
              <a:t>37,1%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Median tutupan: 34,4% (skewed)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1732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1554480"/>
            <a:ext cx="20574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RENTANG TUTUPAN</a:t>
            </a:r>
          </a:p>
          <a:p>
            <a:pPr>
              <a:spcBef>
                <a:spcPts val="200"/>
              </a:spcBef>
              <a:defRPr sz="2800" b="1">
                <a:solidFill>
                  <a:srgbClr val="267344"/>
                </a:solidFill>
                <a:latin typeface="Segoe UI"/>
              </a:defRPr>
            </a:pPr>
            <a:r>
              <a:t>1,15% – 99,98%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Min: train_010, Max: train_098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52578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age_3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34640"/>
            <a:ext cx="5074920" cy="32918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217920" y="2743200"/>
            <a:ext cx="52578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926080"/>
            <a:ext cx="4709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3524"/>
                </a:solidFill>
                <a:latin typeface="Segoe UI"/>
              </a:defRPr>
            </a:pPr>
            <a:r>
              <a:t>Empat Karakteristik Ekstrem Data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NoData Hitam ±19% : </a:t>
            </a:r>
            <a:r>
              <a:rPr b="0">
                <a:solidFill>
                  <a:srgbClr val="18261E"/>
                </a:solidFill>
              </a:rPr>
              <a:t>22 tile latih &gt;50% kosong akibat potongan sudut orbit satelit.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Tanpa Kanal NIR : </a:t>
            </a:r>
            <a:r>
              <a:rPr b="0">
                <a:solidFill>
                  <a:srgbClr val="18261E"/>
                </a:solidFill>
              </a:rPr>
              <a:t>Hanya tersedia RGB; indeks vegetasi NDVI standar tidak dapat dihitung.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Tutupan Sangat Timpang : </a:t>
            </a:r>
            <a:r>
              <a:rPr b="0">
                <a:solidFill>
                  <a:srgbClr val="18261E"/>
                </a:solidFill>
              </a:rPr>
              <a:t>Rentang 1% hingga 100% menuntut partisi Stratified 5-Fold khusus.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Kerancuan Pematang : </a:t>
            </a:r>
            <a:r>
              <a:rPr b="0">
                <a:solidFill>
                  <a:srgbClr val="18261E"/>
                </a:solidFill>
              </a:rPr>
              <a:t>Pematang tipis (1–2 px) dan genangan air awal tanam mirip tambak.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03524"/>
                </a:solidFill>
                <a:latin typeface="Segoe UI"/>
              </a:defRPr>
            </a:pPr>
            <a:r>
              <a:t>SOLUSI REKAYASA: </a:t>
            </a:r>
            <a:r>
              <a:rPr sz="2000" b="1">
                <a:solidFill>
                  <a:srgbClr val="103524"/>
                </a:solidFill>
                <a:latin typeface="Segoe UI"/>
              </a:rPr>
              <a:t>PENANGANAN 6 TANTANGAN DATA SECARA DETERMINISTIK</a:t>
            </a:r>
          </a:p>
          <a:p>
            <a:pPr>
              <a:spcBef>
                <a:spcPts val="400"/>
              </a:spcBef>
              <a:defRPr sz="1300">
                <a:solidFill>
                  <a:srgbClr val="697A70"/>
                </a:solidFill>
                <a:latin typeface="Segoe UI"/>
              </a:defRPr>
            </a:pPr>
            <a:r>
              <a:t>Setiap kendala fisik dataset satelit dipasangkan dengan mitigasi rekayasa yang teruji bebas leakage.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72591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103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TANTANGAN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50876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SOLUSI REKAYASA &amp; IMPLEMENTASI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10725912" cy="12700"/>
          </a:xfrm>
          <a:prstGeom prst="rect">
            <a:avLst/>
          </a:prstGeom>
          <a:solidFill>
            <a:srgbClr val="E2E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7568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8261E"/>
                </a:solidFill>
                <a:latin typeface="Segoe UI"/>
              </a:defRPr>
            </a:pPr>
            <a:r>
              <a:t>NoData Hitam ±19% (0% sawah)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075688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3524"/>
                </a:solidFill>
                <a:latin typeface="Segoe UI"/>
              </a:defRPr>
            </a:pPr>
            <a:r>
              <a:t>Zeroing Deterministik: Mask[img == [0,0,0]] = 0 (Rule D-002)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70048"/>
            <a:ext cx="10725912" cy="12700"/>
          </a:xfrm>
          <a:prstGeom prst="rect">
            <a:avLst/>
          </a:prstGeom>
          <a:solidFill>
            <a:srgbClr val="E2E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79776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8261E"/>
                </a:solidFill>
                <a:latin typeface="Segoe UI"/>
              </a:defRPr>
            </a:pPr>
            <a:r>
              <a:t>Tutupan Timpang (1% - 100%)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779776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3524"/>
                </a:solidFill>
                <a:latin typeface="Segoe UI"/>
              </a:defRPr>
            </a:pPr>
            <a:r>
              <a:t>Stratified 5-Fold berdasarkan kuantil tutupan (35,2% - 39,2% per fold)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74136"/>
            <a:ext cx="10725912" cy="12700"/>
          </a:xfrm>
          <a:prstGeom prst="rect">
            <a:avLst/>
          </a:prstGeom>
          <a:solidFill>
            <a:srgbClr val="E2E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483864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8261E"/>
                </a:solidFill>
                <a:latin typeface="Segoe UI"/>
              </a:defRPr>
            </a:pPr>
            <a:r>
              <a:t>Data Latih Terbatas (123 Tile)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483864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3524"/>
                </a:solidFill>
                <a:latin typeface="Segoe UI"/>
              </a:defRPr>
            </a:pPr>
            <a:r>
              <a:t>Augmentasi D4 (rotasi 4 arah + flip), crop 512, D4 TTA saat inferensi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078224"/>
            <a:ext cx="10725912" cy="12700"/>
          </a:xfrm>
          <a:prstGeom prst="rect">
            <a:avLst/>
          </a:prstGeom>
          <a:solidFill>
            <a:srgbClr val="E2E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87952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8261E"/>
                </a:solidFill>
                <a:latin typeface="Segoe UI"/>
              </a:defRPr>
            </a:pPr>
            <a:r>
              <a:t>Distribusi Warna Pleiades Gelap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4187952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3524"/>
                </a:solidFill>
                <a:latin typeface="Segoe UI"/>
              </a:defRPr>
            </a:pPr>
            <a:r>
              <a:t>Normalisasi statistik Pleiades spesifik; Uji KS train-test &lt; 0,05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782312"/>
            <a:ext cx="10725912" cy="12700"/>
          </a:xfrm>
          <a:prstGeom prst="rect">
            <a:avLst/>
          </a:prstGeom>
          <a:solidFill>
            <a:srgbClr val="E2E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8920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8261E"/>
                </a:solidFill>
                <a:latin typeface="Segoe UI"/>
              </a:defRPr>
            </a:pPr>
            <a:r>
              <a:t>Format Evaluasi Lomba RLE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489204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3524"/>
                </a:solidFill>
                <a:latin typeface="Segoe UI"/>
              </a:defRPr>
            </a:pPr>
            <a:r>
              <a:t>RLE kolom-mayor Airbus; verifikasi uji roundtrip 100% identik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486400"/>
            <a:ext cx="10725912" cy="12700"/>
          </a:xfrm>
          <a:prstGeom prst="rect">
            <a:avLst/>
          </a:prstGeom>
          <a:solidFill>
            <a:srgbClr val="E2E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59612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8261E"/>
                </a:solidFill>
                <a:latin typeface="Segoe UI"/>
              </a:defRPr>
            </a:pPr>
            <a:r>
              <a:t>Ketiadaan Kanal NIR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5596128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3524"/>
                </a:solidFill>
                <a:latin typeface="Segoe UI"/>
              </a:defRPr>
            </a:pPr>
            <a:r>
              <a:t>Substitusi NGRDI (+0,032 vs +0,015) &amp; representasi fitur tekstur spasial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03524"/>
                </a:solidFill>
                <a:latin typeface="Segoe UI"/>
              </a:defRPr>
            </a:pPr>
            <a:r>
              <a:t>DIVERSIFIKASI MODEL: </a:t>
            </a:r>
            <a:r>
              <a:rPr sz="2000" b="1">
                <a:solidFill>
                  <a:srgbClr val="103524"/>
                </a:solidFill>
                <a:latin typeface="Segoe UI"/>
              </a:rPr>
              <a:t>ENSEMBLE 4 ARSITEKTUR MULTI-FAMILI SALING MELENGKAPI</a:t>
            </a:r>
          </a:p>
          <a:p>
            <a:pPr>
              <a:spcBef>
                <a:spcPts val="400"/>
              </a:spcBef>
              <a:defRPr sz="1300">
                <a:solidFill>
                  <a:srgbClr val="697A70"/>
                </a:solidFill>
                <a:latin typeface="Segoe UI"/>
              </a:defRPr>
            </a:pPr>
            <a:r>
              <a:t>Menggabungkan CNN atensi kanal, compound scaling, multiscale ASPP, dan hierarchical transformer.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25420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00200"/>
            <a:ext cx="2176272" cy="365760"/>
          </a:xfrm>
          <a:prstGeom prst="roundRect">
            <a:avLst/>
          </a:prstGeom>
          <a:solidFill>
            <a:srgbClr val="EB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3524"/>
                </a:solidFill>
                <a:latin typeface="Segoe UI"/>
              </a:defRPr>
            </a:pPr>
            <a:r>
              <a:t>ATENSI KANAL SPEKTRAL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217627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3524"/>
                </a:solidFill>
                <a:latin typeface="Segoe UI"/>
              </a:defRPr>
            </a:pPr>
            <a:r>
              <a:t>m3 U-Net</a:t>
            </a:r>
          </a:p>
          <a:p>
            <a:pPr>
              <a:defRPr sz="1300">
                <a:solidFill>
                  <a:srgbClr val="697A70"/>
                </a:solidFill>
                <a:latin typeface="Segoe UI"/>
              </a:defRPr>
            </a:pPr>
            <a:r>
              <a:t>SE-ResNeXt50</a:t>
            </a:r>
          </a:p>
          <a:p>
            <a:pPr>
              <a:spcBef>
                <a:spcPts val="1200"/>
              </a:spcBef>
              <a:defRPr sz="1700" b="1">
                <a:solidFill>
                  <a:srgbClr val="267344"/>
                </a:solidFill>
                <a:latin typeface="Segoe UI"/>
              </a:defRPr>
            </a:pPr>
            <a:r>
              <a:t>Mean IoU: 0.9103</a:t>
            </a:r>
          </a:p>
          <a:p>
            <a:pPr>
              <a:defRPr sz="1150">
                <a:solidFill>
                  <a:srgbClr val="697A70"/>
                </a:solidFill>
                <a:latin typeface="Segoe UI"/>
              </a:defRPr>
            </a:pPr>
            <a:r>
              <a:t>Params: 34.5M</a:t>
            </a:r>
          </a:p>
          <a:p>
            <a:pPr>
              <a:spcBef>
                <a:spcPts val="1400"/>
              </a:spcBef>
              <a:defRPr sz="1250">
                <a:solidFill>
                  <a:srgbClr val="18261E"/>
                </a:solidFill>
                <a:latin typeface="Segoe UI"/>
              </a:defRPr>
            </a:pPr>
            <a:r>
              <a:t>Squeeze-and-Excitation menimbang bobot kanal RGB adaptif.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417320"/>
            <a:ext cx="25420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39312" y="1600200"/>
            <a:ext cx="2176272" cy="365760"/>
          </a:xfrm>
          <a:prstGeom prst="roundRect">
            <a:avLst/>
          </a:prstGeom>
          <a:solidFill>
            <a:srgbClr val="EB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3524"/>
                </a:solidFill>
                <a:latin typeface="Segoe UI"/>
              </a:defRPr>
            </a:pPr>
            <a:r>
              <a:t>COMPOUND SCALING EFISIEN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2148840"/>
            <a:ext cx="217627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3524"/>
                </a:solidFill>
                <a:latin typeface="Segoe UI"/>
              </a:defRPr>
            </a:pPr>
            <a:r>
              <a:t>m4 U-Net</a:t>
            </a:r>
          </a:p>
          <a:p>
            <a:pPr>
              <a:defRPr sz="1300">
                <a:solidFill>
                  <a:srgbClr val="697A70"/>
                </a:solidFill>
                <a:latin typeface="Segoe UI"/>
              </a:defRPr>
            </a:pPr>
            <a:r>
              <a:t>EfficientNet-B4</a:t>
            </a:r>
          </a:p>
          <a:p>
            <a:pPr>
              <a:spcBef>
                <a:spcPts val="1200"/>
              </a:spcBef>
              <a:defRPr sz="1700" b="1">
                <a:solidFill>
                  <a:srgbClr val="267344"/>
                </a:solidFill>
                <a:latin typeface="Segoe UI"/>
              </a:defRPr>
            </a:pPr>
            <a:r>
              <a:t>Mean IoU: 0.9041</a:t>
            </a:r>
          </a:p>
          <a:p>
            <a:pPr>
              <a:defRPr sz="1150">
                <a:solidFill>
                  <a:srgbClr val="697A70"/>
                </a:solidFill>
                <a:latin typeface="Segoe UI"/>
              </a:defRPr>
            </a:pPr>
            <a:r>
              <a:t>Params: 20.1M</a:t>
            </a:r>
          </a:p>
          <a:p>
            <a:pPr>
              <a:spcBef>
                <a:spcPts val="1400"/>
              </a:spcBef>
              <a:defRPr sz="1250">
                <a:solidFill>
                  <a:srgbClr val="18261E"/>
                </a:solidFill>
                <a:latin typeface="Segoe UI"/>
              </a:defRPr>
            </a:pPr>
            <a:r>
              <a:t>Performa paling konsisten dan rendah variansi antar-fold.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417320"/>
            <a:ext cx="25420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64224" y="1600200"/>
            <a:ext cx="2176272" cy="365760"/>
          </a:xfrm>
          <a:prstGeom prst="roundRect">
            <a:avLst/>
          </a:prstGeom>
          <a:solidFill>
            <a:srgbClr val="EB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3524"/>
                </a:solidFill>
                <a:latin typeface="Segoe UI"/>
              </a:defRPr>
            </a:pPr>
            <a:r>
              <a:t>KONTEKS MULTISKALA (ASPP)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2148840"/>
            <a:ext cx="217627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3524"/>
                </a:solidFill>
                <a:latin typeface="Segoe UI"/>
              </a:defRPr>
            </a:pPr>
            <a:r>
              <a:t>m5 DeepLabV3+</a:t>
            </a:r>
          </a:p>
          <a:p>
            <a:pPr>
              <a:defRPr sz="1300">
                <a:solidFill>
                  <a:srgbClr val="697A70"/>
                </a:solidFill>
                <a:latin typeface="Segoe UI"/>
              </a:defRPr>
            </a:pPr>
            <a:r>
              <a:t>ResNeXt50</a:t>
            </a:r>
          </a:p>
          <a:p>
            <a:pPr>
              <a:spcBef>
                <a:spcPts val="1200"/>
              </a:spcBef>
              <a:defRPr sz="1700" b="1">
                <a:solidFill>
                  <a:srgbClr val="267344"/>
                </a:solidFill>
                <a:latin typeface="Segoe UI"/>
              </a:defRPr>
            </a:pPr>
            <a:r>
              <a:t>Mean IoU: 0.8997</a:t>
            </a:r>
          </a:p>
          <a:p>
            <a:pPr>
              <a:defRPr sz="1150">
                <a:solidFill>
                  <a:srgbClr val="697A70"/>
                </a:solidFill>
                <a:latin typeface="Segoe UI"/>
              </a:defRPr>
            </a:pPr>
            <a:r>
              <a:t>Params: 26.1M</a:t>
            </a:r>
          </a:p>
          <a:p>
            <a:pPr>
              <a:spcBef>
                <a:spcPts val="1400"/>
              </a:spcBef>
              <a:defRPr sz="1250">
                <a:solidFill>
                  <a:srgbClr val="18261E"/>
                </a:solidFill>
                <a:latin typeface="Segoe UI"/>
              </a:defRPr>
            </a:pPr>
            <a:r>
              <a:t>ASPP efektif menangkap hamparan sawah makro (&gt;10.000 px).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417320"/>
            <a:ext cx="25420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89136" y="1600200"/>
            <a:ext cx="2176272" cy="365760"/>
          </a:xfrm>
          <a:prstGeom prst="roundRect">
            <a:avLst/>
          </a:prstGeom>
          <a:solidFill>
            <a:srgbClr val="EB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3524"/>
                </a:solidFill>
                <a:latin typeface="Segoe UI"/>
              </a:defRPr>
            </a:pPr>
            <a:r>
              <a:t>ATENSI GLOBAL TRANSFORMER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89136" y="2148840"/>
            <a:ext cx="217627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3524"/>
                </a:solidFill>
                <a:latin typeface="Segoe UI"/>
              </a:defRPr>
            </a:pPr>
            <a:r>
              <a:t>m7 MAnet</a:t>
            </a:r>
          </a:p>
          <a:p>
            <a:pPr>
              <a:defRPr sz="1300">
                <a:solidFill>
                  <a:srgbClr val="697A70"/>
                </a:solidFill>
                <a:latin typeface="Segoe UI"/>
              </a:defRPr>
            </a:pPr>
            <a:r>
              <a:t>MiT-B3</a:t>
            </a:r>
          </a:p>
          <a:p>
            <a:pPr>
              <a:spcBef>
                <a:spcPts val="1200"/>
              </a:spcBef>
              <a:defRPr sz="1700" b="1">
                <a:solidFill>
                  <a:srgbClr val="267344"/>
                </a:solidFill>
                <a:latin typeface="Segoe UI"/>
              </a:defRPr>
            </a:pPr>
            <a:r>
              <a:t>Mean IoU: 0.8894</a:t>
            </a:r>
          </a:p>
          <a:p>
            <a:pPr>
              <a:defRPr sz="1150">
                <a:solidFill>
                  <a:srgbClr val="697A70"/>
                </a:solidFill>
                <a:latin typeface="Segoe UI"/>
              </a:defRPr>
            </a:pPr>
            <a:r>
              <a:t>Params: 47.4M</a:t>
            </a:r>
          </a:p>
          <a:p>
            <a:pPr>
              <a:spcBef>
                <a:spcPts val="1400"/>
              </a:spcBef>
              <a:defRPr sz="1250">
                <a:solidFill>
                  <a:srgbClr val="18261E"/>
                </a:solidFill>
                <a:latin typeface="Segoe UI"/>
              </a:defRPr>
            </a:pPr>
            <a:r>
              <a:t>Memetakan relasi spasial saluran irigasi jarak jauh.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6035040"/>
            <a:ext cx="10725912" cy="502920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F5E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6126479"/>
            <a:ext cx="102687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A67308"/>
                </a:solidFill>
                <a:latin typeface="Segoe UI"/>
              </a:defRPr>
            </a:pPr>
            <a:r>
              <a:t>Intinya: </a:t>
            </a:r>
            <a:r>
              <a:rPr sz="1250" b="0">
                <a:solidFill>
                  <a:srgbClr val="A67308"/>
                </a:solidFill>
                <a:latin typeface="Segoe UI"/>
              </a:rPr>
              <a:t>4 arsitektur berbeda = korelasi kesalahan berbeda, saling menutupi kelemahan prediksi.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03524"/>
                </a:solidFill>
                <a:latin typeface="Segoe UI"/>
              </a:defRPr>
            </a:pPr>
            <a:r>
              <a:t>PIPELINE KOMPUTASI: </a:t>
            </a:r>
            <a:r>
              <a:rPr sz="2000" b="1">
                <a:solidFill>
                  <a:srgbClr val="103524"/>
                </a:solidFill>
                <a:latin typeface="Segoe UI"/>
              </a:rPr>
              <a:t>20 SIKLUS MODEL DENGAN D4 TEST-TIME AUGMENTATION</a:t>
            </a:r>
          </a:p>
          <a:p>
            <a:pPr>
              <a:spcBef>
                <a:spcPts val="400"/>
              </a:spcBef>
              <a:defRPr sz="1300">
                <a:solidFill>
                  <a:srgbClr val="697A70"/>
                </a:solidFill>
                <a:latin typeface="Segoe UI"/>
              </a:defRPr>
            </a:pPr>
            <a:r>
              <a:t>Inferensi 4 model × 5 fold dengan 4 rotasi sudut tanpa penalti memori pada GPU RTX 5070.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99339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600200"/>
            <a:ext cx="411480" cy="411480"/>
          </a:xfrm>
          <a:prstGeom prst="ellipse">
            <a:avLst/>
          </a:prstGeom>
          <a:solidFill>
            <a:srgbClr val="103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17190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3524"/>
                </a:solidFill>
                <a:latin typeface="Segoe UI"/>
              </a:defRPr>
            </a:pPr>
            <a:r>
              <a:t>1. Normalisasi</a:t>
            </a:r>
          </a:p>
          <a:p>
            <a:pPr>
              <a:spcBef>
                <a:spcPts val="600"/>
              </a:spcBef>
              <a:defRPr sz="1150">
                <a:solidFill>
                  <a:srgbClr val="18261E"/>
                </a:solidFill>
                <a:latin typeface="Segoe UI"/>
              </a:defRPr>
            </a:pPr>
            <a:r>
              <a:t>Pleiades 1024×1024 dinormalisasi statistik khusus.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1417320"/>
            <a:ext cx="199339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090672" y="1600200"/>
            <a:ext cx="411480" cy="411480"/>
          </a:xfrm>
          <a:prstGeom prst="ellipse">
            <a:avLst/>
          </a:prstGeom>
          <a:solidFill>
            <a:srgbClr val="103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4952" y="2103120"/>
            <a:ext cx="17190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3524"/>
                </a:solidFill>
                <a:latin typeface="Segoe UI"/>
              </a:defRPr>
            </a:pPr>
            <a:r>
              <a:t>2. Encoders</a:t>
            </a:r>
          </a:p>
          <a:p>
            <a:pPr>
              <a:spcBef>
                <a:spcPts val="600"/>
              </a:spcBef>
              <a:defRPr sz="1150">
                <a:solidFill>
                  <a:srgbClr val="18261E"/>
                </a:solidFill>
                <a:latin typeface="Segoe UI"/>
              </a:defRPr>
            </a:pPr>
            <a:r>
              <a:t>Ekstraksi fitur CNN, Atrous, dan Transformer.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417320"/>
            <a:ext cx="199339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66944" y="1600200"/>
            <a:ext cx="411480" cy="411480"/>
          </a:xfrm>
          <a:prstGeom prst="ellipse">
            <a:avLst/>
          </a:prstGeom>
          <a:solidFill>
            <a:srgbClr val="103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1224" y="2103120"/>
            <a:ext cx="17190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3524"/>
                </a:solidFill>
                <a:latin typeface="Segoe UI"/>
              </a:defRPr>
            </a:pPr>
            <a:r>
              <a:t>3. Decoders</a:t>
            </a:r>
          </a:p>
          <a:p>
            <a:pPr>
              <a:spcBef>
                <a:spcPts val="600"/>
              </a:spcBef>
              <a:defRPr sz="1150">
                <a:solidFill>
                  <a:srgbClr val="18261E"/>
                </a:solidFill>
                <a:latin typeface="Segoe UI"/>
              </a:defRPr>
            </a:pPr>
            <a:r>
              <a:t>Rekonstruksi batas ke resolusi spasial penuh.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0336" y="1417320"/>
            <a:ext cx="199339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43216" y="1600200"/>
            <a:ext cx="411480" cy="411480"/>
          </a:xfrm>
          <a:prstGeom prst="ellipse">
            <a:avLst/>
          </a:prstGeom>
          <a:solidFill>
            <a:srgbClr val="103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97496" y="2103120"/>
            <a:ext cx="17190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3524"/>
                </a:solidFill>
                <a:latin typeface="Segoe UI"/>
              </a:defRPr>
            </a:pPr>
            <a:r>
              <a:t>4. Logit Blend</a:t>
            </a:r>
          </a:p>
          <a:p>
            <a:pPr>
              <a:spcBef>
                <a:spcPts val="600"/>
              </a:spcBef>
              <a:defRPr sz="1150">
                <a:solidFill>
                  <a:srgbClr val="18261E"/>
                </a:solidFill>
                <a:latin typeface="Segoe UI"/>
              </a:defRPr>
            </a:pPr>
            <a:r>
              <a:t>Perpaduan unconstrained logit z = Σ w_m ln(p/(1-p)).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36608" y="1417320"/>
            <a:ext cx="199339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19488" y="1600200"/>
            <a:ext cx="411480" cy="411480"/>
          </a:xfrm>
          <a:prstGeom prst="ellipse">
            <a:avLst/>
          </a:prstGeom>
          <a:solidFill>
            <a:srgbClr val="103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73768" y="2103120"/>
            <a:ext cx="17190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3524"/>
                </a:solidFill>
                <a:latin typeface="Segoe UI"/>
              </a:defRPr>
            </a:pPr>
            <a:r>
              <a:t>5. Post-Process</a:t>
            </a:r>
          </a:p>
          <a:p>
            <a:pPr>
              <a:spcBef>
                <a:spcPts val="600"/>
              </a:spcBef>
              <a:defRPr sz="1150">
                <a:solidFill>
                  <a:srgbClr val="18261E"/>
                </a:solidFill>
                <a:latin typeface="Segoe UI"/>
              </a:defRPr>
            </a:pPr>
            <a:r>
              <a:t>Thresholding adaptif &amp; NoData hard zeroing.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8620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023360"/>
            <a:ext cx="29260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TOTAL MODEL CHECKPOINT</a:t>
            </a:r>
          </a:p>
          <a:p>
            <a:pPr>
              <a:spcBef>
                <a:spcPts val="200"/>
              </a:spcBef>
              <a:defRPr sz="2800" b="1">
                <a:solidFill>
                  <a:srgbClr val="103524"/>
                </a:solidFill>
                <a:latin typeface="Segoe UI"/>
              </a:defRPr>
            </a:pPr>
            <a:r>
              <a:t>20 Model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4 arsitektur × 5 fold validasi penuh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88620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4023360"/>
            <a:ext cx="29260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WAKTU KOMPUTASI GPU</a:t>
            </a:r>
          </a:p>
          <a:p>
            <a:pPr>
              <a:spcBef>
                <a:spcPts val="200"/>
              </a:spcBef>
              <a:defRPr sz="2800" b="1">
                <a:solidFill>
                  <a:srgbClr val="267344"/>
                </a:solidFill>
                <a:latin typeface="Segoe UI"/>
              </a:defRPr>
            </a:pPr>
            <a:r>
              <a:t>±61,1 Menit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NVIDIA GeForce RTX 5070 (12 GB VRAM FP16)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88620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4023360"/>
            <a:ext cx="29260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REPRODUSIBILITAS PENUH</a:t>
            </a:r>
          </a:p>
          <a:p>
            <a:pPr>
              <a:spcBef>
                <a:spcPts val="200"/>
              </a:spcBef>
              <a:defRPr sz="2800" b="1">
                <a:solidFill>
                  <a:srgbClr val="103524"/>
                </a:solidFill>
                <a:latin typeface="Segoe UI"/>
              </a:defRPr>
            </a:pPr>
            <a:r>
              <a:t>Seed 42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Semua seed dikunci deterministik tanpa fluktuasi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440680"/>
            <a:ext cx="10725912" cy="502920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F5E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532120"/>
            <a:ext cx="102687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A67308"/>
                </a:solidFill>
                <a:latin typeface="Segoe UI"/>
              </a:defRPr>
            </a:pPr>
            <a:r>
              <a:t>Intinya: </a:t>
            </a:r>
            <a:r>
              <a:rPr sz="1250" b="0">
                <a:solidFill>
                  <a:srgbClr val="A67308"/>
                </a:solidFill>
                <a:latin typeface="Segoe UI"/>
              </a:rPr>
              <a:t>caching inferensi menghasilkan submission.csv instan tanpa perlu komputasi ulang 15 menit.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03524"/>
                </a:solidFill>
                <a:latin typeface="Segoe UI"/>
              </a:defRPr>
            </a:pPr>
            <a:r>
              <a:t>KONSISTENSI 5-FOLD: </a:t>
            </a:r>
            <a:r>
              <a:rPr sz="2000" b="1">
                <a:solidFill>
                  <a:srgbClr val="103524"/>
                </a:solidFill>
                <a:latin typeface="Segoe UI"/>
              </a:rPr>
              <a:t>STABILITAS TINGGI ANTAR LIPATAN TANPA OVERFITTING</a:t>
            </a:r>
          </a:p>
          <a:p>
            <a:pPr>
              <a:spcBef>
                <a:spcPts val="400"/>
              </a:spcBef>
              <a:defRPr sz="1300">
                <a:solidFill>
                  <a:srgbClr val="697A70"/>
                </a:solidFill>
                <a:latin typeface="Segoe UI"/>
              </a:defRPr>
            </a:pPr>
            <a:r>
              <a:t>Evaluasi silang 5-fold membuktikan kapabilitas generalisasi kokoh dengan simpangan baku sangat rendah.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6858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ge_7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08760"/>
            <a:ext cx="667512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417320"/>
            <a:ext cx="35661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1554480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RERATA 5-FOLD TERBAIK</a:t>
            </a:r>
          </a:p>
          <a:p>
            <a:pPr>
              <a:spcBef>
                <a:spcPts val="200"/>
              </a:spcBef>
              <a:defRPr sz="2800" b="1">
                <a:solidFill>
                  <a:srgbClr val="103524"/>
                </a:solidFill>
                <a:latin typeface="Segoe UI"/>
              </a:defRPr>
            </a:pPr>
            <a:r>
              <a:t>0,9103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m3 U-Net SE-ResNeXt50 memimpin di 5 fold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971800"/>
            <a:ext cx="35661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3108960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SIMPANGAN BAKU ANTAR FOLD</a:t>
            </a:r>
          </a:p>
          <a:p>
            <a:pPr>
              <a:spcBef>
                <a:spcPts val="200"/>
              </a:spcBef>
              <a:defRPr sz="2800" b="1">
                <a:solidFill>
                  <a:srgbClr val="267344"/>
                </a:solidFill>
                <a:latin typeface="Segoe UI"/>
              </a:defRPr>
            </a:pPr>
            <a:r>
              <a:t>±0,015 – 0,022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Variansi sangat rendah; model tidak overfit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4526280"/>
            <a:ext cx="35661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4663440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VALIDASI BEBAS LEAKAGE</a:t>
            </a:r>
          </a:p>
          <a:p>
            <a:pPr>
              <a:spcBef>
                <a:spcPts val="200"/>
              </a:spcBef>
              <a:defRPr sz="2800" b="1">
                <a:solidFill>
                  <a:srgbClr val="103524"/>
                </a:solidFill>
                <a:latin typeface="Segoe UI"/>
              </a:defRPr>
            </a:pPr>
            <a:r>
              <a:t>123 Tile OOF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Seluruh citra latih tervalidasi out-of-fold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03524"/>
                </a:solidFill>
                <a:latin typeface="Segoe UI"/>
              </a:defRPr>
            </a:pPr>
            <a:r>
              <a:t>FITTING &amp; TUNING: </a:t>
            </a:r>
            <a:r>
              <a:rPr sz="2000" b="1">
                <a:solidFill>
                  <a:srgbClr val="103524"/>
                </a:solidFill>
                <a:latin typeface="Segoe UI"/>
              </a:rPr>
              <a:t>OPTIMASI NELDER-MEAD OOF BEBAS DATA LEAKAGE</a:t>
            </a:r>
          </a:p>
          <a:p>
            <a:pPr>
              <a:spcBef>
                <a:spcPts val="400"/>
              </a:spcBef>
              <a:defRPr sz="1300">
                <a:solidFill>
                  <a:srgbClr val="697A70"/>
                </a:solidFill>
                <a:latin typeface="Segoe UI"/>
              </a:defRPr>
            </a:pPr>
            <a:r>
              <a:t>Bobot ensemble dan ambang batas keputusan dikalibrasi simultan pada data validasi Out-of-Fold.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57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ing_fol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08760"/>
            <a:ext cx="5074920" cy="4663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417320"/>
            <a:ext cx="523951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3524"/>
                </a:solidFill>
                <a:latin typeface="Segoe UI"/>
              </a:defRPr>
            </a:pPr>
            <a:r>
              <a:t>Fitting: Protokol Pelatihan</a:t>
            </a:r>
          </a:p>
          <a:p>
            <a:pPr>
              <a:spcBef>
                <a:spcPts val="400"/>
              </a:spcBef>
              <a:defRPr sz="1200" b="1">
                <a:solidFill>
                  <a:srgbClr val="103524"/>
                </a:solidFill>
                <a:latin typeface="Segoe UI"/>
              </a:defRPr>
            </a:pPr>
            <a:r>
              <a:t>• Compound Loss : </a:t>
            </a:r>
            <a:r>
              <a:rPr b="0">
                <a:solidFill>
                  <a:srgbClr val="18261E"/>
                </a:solidFill>
              </a:rPr>
              <a:t>0,5 × BCEWithLogits + 0,5 × SoftDiceLoss.</a:t>
            </a:r>
          </a:p>
          <a:p>
            <a:pPr>
              <a:spcBef>
                <a:spcPts val="400"/>
              </a:spcBef>
              <a:defRPr sz="1200" b="1">
                <a:solidFill>
                  <a:srgbClr val="103524"/>
                </a:solidFill>
                <a:latin typeface="Segoe UI"/>
              </a:defRPr>
            </a:pPr>
            <a:r>
              <a:t>• Optimizer : </a:t>
            </a:r>
            <a:r>
              <a:rPr b="0">
                <a:solidFill>
                  <a:srgbClr val="18261E"/>
                </a:solidFill>
              </a:rPr>
              <a:t>AdamW (lr=3e-4, weight_decay=1e-4) + CosineAnnealing.</a:t>
            </a:r>
          </a:p>
          <a:p>
            <a:pPr>
              <a:spcBef>
                <a:spcPts val="400"/>
              </a:spcBef>
              <a:defRPr sz="1200" b="1">
                <a:solidFill>
                  <a:srgbClr val="103524"/>
                </a:solidFill>
                <a:latin typeface="Segoe UI"/>
              </a:defRPr>
            </a:pPr>
            <a:r>
              <a:t>• Skrining 7 Model : </a:t>
            </a:r>
            <a:r>
              <a:rPr b="0">
                <a:solidFill>
                  <a:srgbClr val="18261E"/>
                </a:solidFill>
              </a:rPr>
              <a:t>4 arsitektur teratas dipilih untuk pelatihan 5-fold penuh.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520440"/>
            <a:ext cx="5239512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3657600"/>
            <a:ext cx="4709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7344"/>
                </a:solidFill>
                <a:latin typeface="Segoe UI"/>
              </a:defRPr>
            </a:pPr>
            <a:r>
              <a:t>Tuning: Optimasi Nelder-Mead OOF (Float32)</a:t>
            </a:r>
          </a:p>
          <a:p>
            <a:pPr>
              <a:spcBef>
                <a:spcPts val="400"/>
              </a:spcBef>
              <a:defRPr sz="1200" b="1">
                <a:solidFill>
                  <a:srgbClr val="18261E"/>
                </a:solidFill>
                <a:latin typeface="Segoe UI"/>
              </a:defRPr>
            </a:pPr>
            <a:r>
              <a:t>Bobot Optimal OOF Terkonfirmasi:</a:t>
            </a:r>
          </a:p>
          <a:p>
            <a:pPr>
              <a:spcBef>
                <a:spcPts val="200"/>
              </a:spcBef>
              <a:defRPr sz="1400" b="1">
                <a:solidFill>
                  <a:srgbClr val="103524"/>
                </a:solidFill>
                <a:latin typeface="Segoe UI"/>
              </a:defRPr>
            </a:pPr>
            <a:r>
              <a:t>m3: 36,9%  •  m4: 25,3%  •  m5: 22,3%  •  m7: 15,6%</a:t>
            </a:r>
          </a:p>
          <a:p>
            <a:pPr>
              <a:spcBef>
                <a:spcPts val="400"/>
              </a:spcBef>
              <a:defRPr sz="1200" b="1">
                <a:solidFill>
                  <a:srgbClr val="103524"/>
                </a:solidFill>
                <a:latin typeface="Segoe UI"/>
              </a:defRPr>
            </a:pPr>
            <a:r>
              <a:t>• Ambang Batas Optimal : </a:t>
            </a:r>
            <a:r>
              <a:rPr b="0">
                <a:solidFill>
                  <a:srgbClr val="18261E"/>
                </a:solidFill>
              </a:rPr>
              <a:t>τ = 0,4652 (bukan default 0,50)</a:t>
            </a:r>
          </a:p>
          <a:p>
            <a:pPr>
              <a:spcBef>
                <a:spcPts val="400"/>
              </a:spcBef>
              <a:defRPr sz="1200" b="1">
                <a:solidFill>
                  <a:srgbClr val="103524"/>
                </a:solidFill>
                <a:latin typeface="Segoe UI"/>
              </a:defRPr>
            </a:pPr>
            <a:r>
              <a:t>• Validasi OOF Puncak : </a:t>
            </a:r>
            <a:r>
              <a:rPr b="0">
                <a:solidFill>
                  <a:srgbClr val="18261E"/>
                </a:solidFill>
              </a:rPr>
              <a:t>Micro-IoU 0,9178 (bebas data leakage)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03524"/>
                </a:solidFill>
                <a:latin typeface="Segoe UI"/>
              </a:defRPr>
            </a:pPr>
            <a:r>
              <a:t>STUDI ABLASI: </a:t>
            </a:r>
            <a:r>
              <a:rPr sz="2000" b="1">
                <a:solidFill>
                  <a:srgbClr val="103524"/>
                </a:solidFill>
                <a:latin typeface="Segoe UI"/>
              </a:rPr>
              <a:t>KENAIKAN SKOR EMPIRIS BERTAHAP TANPA REGRESI</a:t>
            </a:r>
          </a:p>
          <a:p>
            <a:pPr>
              <a:spcBef>
                <a:spcPts val="400"/>
              </a:spcBef>
              <a:defRPr sz="1300">
                <a:solidFill>
                  <a:srgbClr val="697A70"/>
                </a:solidFill>
                <a:latin typeface="Segoe UI"/>
              </a:defRPr>
            </a:pPr>
            <a:r>
              <a:t>Setiap tahapan perpaduan dihitung langsung dari array OOF dan konsisten memberikan kontribusi positif.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4864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blation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08760"/>
            <a:ext cx="5303520" cy="4663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92240" y="1417320"/>
            <a:ext cx="49377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554480"/>
            <a:ext cx="4480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EQUAL PROBABILITY AVERAGE</a:t>
            </a:r>
          </a:p>
          <a:p>
            <a:pPr>
              <a:spcBef>
                <a:spcPts val="200"/>
              </a:spcBef>
              <a:defRPr sz="2800" b="1">
                <a:solidFill>
                  <a:srgbClr val="103524"/>
                </a:solidFill>
                <a:latin typeface="Segoe UI"/>
              </a:defRPr>
            </a:pPr>
            <a:r>
              <a:t>+0,0068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4 Model @ τ=0,50 : IoU 0,9100 → 0,9168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971800"/>
            <a:ext cx="49377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3108960"/>
            <a:ext cx="4480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EQUAL LOGIT-SPACE BLEND</a:t>
            </a:r>
          </a:p>
          <a:p>
            <a:pPr>
              <a:spcBef>
                <a:spcPts val="200"/>
              </a:spcBef>
              <a:defRPr sz="2800" b="1">
                <a:solidFill>
                  <a:srgbClr val="267344"/>
                </a:solidFill>
                <a:latin typeface="Segoe UI"/>
              </a:defRPr>
            </a:pPr>
            <a:r>
              <a:t>+0,0004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Unconstrained Logit @ opt τ : IoU 0,9168 → 0,9172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4526280"/>
            <a:ext cx="49377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4663440"/>
            <a:ext cx="4480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NELDER-MEAD WEIGHTED BLEND</a:t>
            </a:r>
          </a:p>
          <a:p>
            <a:pPr>
              <a:spcBef>
                <a:spcPts val="200"/>
              </a:spcBef>
              <a:defRPr sz="2800" b="1">
                <a:solidFill>
                  <a:srgbClr val="103524"/>
                </a:solidFill>
                <a:latin typeface="Segoe UI"/>
              </a:defRPr>
            </a:pPr>
            <a:r>
              <a:t>+0,0006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Bobot optimal OOF @ opt τ : IoU 0,9172 → 0,9178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6035040"/>
            <a:ext cx="4937760" cy="502920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F5E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6126479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A67308"/>
                </a:solidFill>
                <a:latin typeface="Segoe UI"/>
              </a:defRPr>
            </a:pPr>
            <a:r>
              <a:t>Intinya: </a:t>
            </a:r>
            <a:r>
              <a:rPr sz="1250" b="0">
                <a:solidFill>
                  <a:srgbClr val="A67308"/>
                </a:solidFill>
                <a:latin typeface="Segoe UI"/>
              </a:rPr>
              <a:t>total kenaikan +0,78% membuktikan ensemble multi-famili tidak mengalami regresi.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03524"/>
                </a:solidFill>
                <a:latin typeface="Segoe UI"/>
              </a:defRPr>
            </a:pPr>
            <a:r>
              <a:t>DIAGNOSTIK PREDIKSI: </a:t>
            </a:r>
            <a:r>
              <a:rPr sz="2000" b="1">
                <a:solidFill>
                  <a:srgbClr val="103524"/>
                </a:solidFill>
                <a:latin typeface="Segoe UI"/>
              </a:rPr>
              <a:t>PETA KETIDAKPASTIAN SPASIAL &amp; HASIL LEADERBOARD</a:t>
            </a:r>
          </a:p>
          <a:p>
            <a:pPr>
              <a:spcBef>
                <a:spcPts val="400"/>
              </a:spcBef>
              <a:defRPr sz="1300">
                <a:solidFill>
                  <a:srgbClr val="697A70"/>
                </a:solidFill>
                <a:latin typeface="Segoe UI"/>
              </a:defRPr>
            </a:pPr>
            <a:r>
              <a:t>Disparitas antar model terisolasi ketat pada pematang tipis; hasil Private Leaderboard melonjak +5 peringkat.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4864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ge_10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08760"/>
            <a:ext cx="530352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064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97A70"/>
                </a:solidFill>
                <a:latin typeface="Segoe UI"/>
              </a:defRPr>
            </a:pPr>
            <a:r>
              <a:t>Peta ketidakpastian (kanan): deviasi model hanya muncul pada saluran irigasi selebar 1-2 px; di sini verifikasi lapangan diarahkan.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17320"/>
            <a:ext cx="49377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554480"/>
            <a:ext cx="4480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PUBLIC LEADERBOARD (55% SLICE)</a:t>
            </a:r>
          </a:p>
          <a:p>
            <a:pPr>
              <a:spcBef>
                <a:spcPts val="200"/>
              </a:spcBef>
              <a:defRPr sz="2800" b="1">
                <a:solidFill>
                  <a:srgbClr val="103524"/>
                </a:solidFill>
                <a:latin typeface="Segoe UI"/>
              </a:defRPr>
            </a:pPr>
            <a:r>
              <a:t>0,78169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Peringkat 7 nasional pada pengujian publik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971800"/>
            <a:ext cx="4937760" cy="1325880"/>
          </a:xfrm>
          <a:prstGeom prst="roundRect">
            <a:avLst/>
          </a:prstGeom>
          <a:solidFill>
            <a:srgbClr val="EBF7EE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3108960"/>
            <a:ext cx="4480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PRIVATE LEADERBOARD (45% SLICE)</a:t>
            </a:r>
          </a:p>
          <a:p>
            <a:pPr>
              <a:spcBef>
                <a:spcPts val="200"/>
              </a:spcBef>
              <a:defRPr sz="2800" b="1">
                <a:solidFill>
                  <a:srgbClr val="267344"/>
                </a:solidFill>
                <a:latin typeface="Segoe UI"/>
              </a:defRPr>
            </a:pPr>
            <a:r>
              <a:t>0,68965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Peringkat 2 Nasional (Runner-Up) — NAIK +5 POSISI!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4526280"/>
            <a:ext cx="49377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4663440"/>
            <a:ext cx="4480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97A70"/>
                </a:solidFill>
                <a:latin typeface="Segoe UI"/>
              </a:defRPr>
            </a:pPr>
            <a:r>
              <a:t>RERATA TUTUPAN PREDIKSI UJI</a:t>
            </a:r>
          </a:p>
          <a:p>
            <a:pPr>
              <a:spcBef>
                <a:spcPts val="200"/>
              </a:spcBef>
              <a:defRPr sz="2800" b="1">
                <a:solidFill>
                  <a:srgbClr val="103524"/>
                </a:solidFill>
                <a:latin typeface="Segoe UI"/>
              </a:defRPr>
            </a:pPr>
            <a:r>
              <a:t>44,3%</a:t>
            </a:r>
          </a:p>
          <a:p>
            <a:pPr>
              <a:spcBef>
                <a:spcPts val="200"/>
              </a:spcBef>
              <a:defRPr sz="1100">
                <a:solidFill>
                  <a:srgbClr val="697A70"/>
                </a:solidFill>
                <a:latin typeface="Segoe UI"/>
              </a:defRPr>
            </a:pPr>
            <a:r>
              <a:t>Konsisten dengan karakteristik regional Banten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6035040"/>
            <a:ext cx="4937760" cy="502920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F5E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6126479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A67308"/>
                </a:solidFill>
                <a:latin typeface="Segoe UI"/>
              </a:defRPr>
            </a:pPr>
            <a:r>
              <a:t>Intinya: </a:t>
            </a:r>
            <a:r>
              <a:rPr sz="1250" b="0">
                <a:solidFill>
                  <a:srgbClr val="A67308"/>
                </a:solidFill>
                <a:latin typeface="Segoe UI"/>
              </a:rPr>
              <a:t>kenaikan +5 posisi membuktikan model tidak overfit dan memiliki generalisasi tinggi.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03524"/>
                </a:solidFill>
                <a:latin typeface="Segoe UI"/>
              </a:defRPr>
            </a:pPr>
            <a:r>
              <a:t>REKOMENDASI KEBIJAKAN: </a:t>
            </a:r>
            <a:r>
              <a:rPr sz="2000" b="1">
                <a:solidFill>
                  <a:srgbClr val="103524"/>
                </a:solidFill>
                <a:latin typeface="Segoe UI"/>
              </a:rPr>
              <a:t>3 PILAR STRATEGIS IMPLEMENTASI KETAHANAN PANGAN</a:t>
            </a:r>
          </a:p>
          <a:p>
            <a:pPr>
              <a:spcBef>
                <a:spcPts val="400"/>
              </a:spcBef>
              <a:defRPr sz="1300">
                <a:solidFill>
                  <a:srgbClr val="697A70"/>
                </a:solidFill>
                <a:latin typeface="Segoe UI"/>
              </a:defRPr>
            </a:pPr>
            <a:r>
              <a:t>Solusi segmentasi satelit ini menjembatani disparitas data dan mendukung kebijakan berbasis bukti.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429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645920"/>
            <a:ext cx="457200" cy="457200"/>
          </a:xfrm>
          <a:prstGeom prst="ellipse">
            <a:avLst/>
          </a:prstGeom>
          <a:solidFill>
            <a:srgbClr val="103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2880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3524"/>
                </a:solidFill>
                <a:latin typeface="Segoe UI"/>
              </a:defRPr>
            </a:pPr>
            <a:r>
              <a:t>Pemantauan Alih Fungsi</a:t>
            </a:r>
          </a:p>
          <a:p>
            <a:pPr>
              <a:spcBef>
                <a:spcPts val="12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Luas baku sawah Banten turun 194 → 187 ribu ha (2026).</a:t>
            </a:r>
          </a:p>
          <a:p>
            <a:pPr>
              <a:spcBef>
                <a:spcPts val="12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Model mendeteksi laju konversi sawah ke perumahan secara berkala.</a:t>
            </a:r>
          </a:p>
          <a:p>
            <a:pPr>
              <a:spcBef>
                <a:spcPts val="12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Status: Siap diuji dengan pasokan citra historis multi-tahun.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417320"/>
            <a:ext cx="3429000" cy="4846320"/>
          </a:xfrm>
          <a:prstGeom prst="roundRect">
            <a:avLst/>
          </a:prstGeom>
          <a:solidFill>
            <a:srgbClr val="EBF7EE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54296" y="1645920"/>
            <a:ext cx="457200" cy="457200"/>
          </a:xfrm>
          <a:prstGeom prst="ellipse">
            <a:avLst/>
          </a:prstGeom>
          <a:solidFill>
            <a:srgbClr val="103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4296" y="2240280"/>
            <a:ext cx="2880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3524"/>
                </a:solidFill>
                <a:latin typeface="Segoe UI"/>
              </a:defRPr>
            </a:pPr>
            <a:r>
              <a:t>Akurasi Pupuk Subsidi</a:t>
            </a:r>
          </a:p>
          <a:p>
            <a:pPr>
              <a:spcBef>
                <a:spcPts val="12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Disparitas luasan sawah 2018 memangkas pupuk 9,55 → 8,8 juta ton.</a:t>
            </a:r>
          </a:p>
          <a:p>
            <a:pPr>
              <a:spcBef>
                <a:spcPts val="12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Verifikasi 2020 menuntut tambahan subsidi 1 juta ton senilai Rp3,1 T.</a:t>
            </a:r>
          </a:p>
          <a:p>
            <a:pPr>
              <a:spcBef>
                <a:spcPts val="12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Segmentasi presisi model mencegah defisit pupuk bagi petani.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1417320"/>
            <a:ext cx="3429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02752" y="1645920"/>
            <a:ext cx="457200" cy="457200"/>
          </a:xfrm>
          <a:prstGeom prst="ellipse">
            <a:avLst/>
          </a:prstGeom>
          <a:solidFill>
            <a:srgbClr val="103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240280"/>
            <a:ext cx="2880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3524"/>
                </a:solidFill>
                <a:latin typeface="Segoe UI"/>
              </a:defRPr>
            </a:pPr>
            <a:r>
              <a:t>Validasi Silang e-RDKK</a:t>
            </a:r>
          </a:p>
          <a:p>
            <a:pPr>
              <a:spcBef>
                <a:spcPts val="12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Temuan KSA satelit lama: 92% sampel tidak akurat (selisih 1 juta ha).</a:t>
            </a:r>
          </a:p>
          <a:p>
            <a:pPr>
              <a:spcBef>
                <a:spcPts val="12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Ombudsman 2022: Data e-RDKK memuat luas lahan tidak terkalibrasi.</a:t>
            </a:r>
          </a:p>
          <a:p>
            <a:pPr>
              <a:spcBef>
                <a:spcPts val="1200"/>
              </a:spcBef>
              <a:defRPr sz="1300">
                <a:solidFill>
                  <a:srgbClr val="18261E"/>
                </a:solidFill>
                <a:latin typeface="Segoe UI"/>
              </a:defRPr>
            </a:pPr>
            <a:r>
              <a:t>• Model 0,5m menjadi auditor independen menandai poligon janggal.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print_grid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731520"/>
            <a:ext cx="105156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52C47E"/>
                </a:solidFill>
                <a:latin typeface="Segoe UI"/>
              </a:defRPr>
            </a:pPr>
            <a:r>
              <a:t>KESIMPULAN AKHIR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Ensemble 4 Arsitektur Terbukti Tangguh,</a:t>
            </a:r>
            <a:br/>
            <a:r>
              <a:t>Bebas Leakage, dan Naik +5 Peringkat.</a:t>
            </a:r>
          </a:p>
          <a:p>
            <a:pPr>
              <a:spcBef>
                <a:spcPts val="800"/>
              </a:spcBef>
              <a:defRPr sz="1600">
                <a:solidFill>
                  <a:srgbClr val="D2EBDC"/>
                </a:solidFill>
                <a:latin typeface="Segoe UI"/>
              </a:defRPr>
            </a:pPr>
            <a:r>
              <a:t>Solusi didukung oleh optimasi ruang logit OOF murni, kalibrasi threshold adaptif, dan evaluasi ketidakpastian spasial.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91840"/>
            <a:ext cx="10543032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3524"/>
                </a:solidFill>
                <a:latin typeface="Segoe UI"/>
              </a:defRPr>
            </a:pPr>
            <a:r>
              <a:t>Langkah Berikutnya: Pilot Implementasi Bersama Dinas Pertanian Banten &amp; BPS.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515600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  <a:p>
            <a:pPr algn="ctr">
              <a:spcBef>
                <a:spcPts val="600"/>
              </a:spcBef>
              <a:defRPr sz="1600">
                <a:solidFill>
                  <a:srgbClr val="52C47E"/>
                </a:solidFill>
                <a:latin typeface="Segoe UI"/>
              </a:defRPr>
            </a:pPr>
            <a:r>
              <a:t>Jeremy  •  Ababil Khoerul Imam  •  Vierico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print_grid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9144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2C47E"/>
                </a:solidFill>
                <a:latin typeface="Segoe UI"/>
              </a:defRPr>
            </a:pPr>
            <a:r>
              <a:t>APPENDIX / BACKUP SLIDES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Segoe UI"/>
              </a:defRPr>
            </a:pPr>
            <a:r>
              <a:t>Dokumentasi Teknis Lengkap, Formula Matematika, &amp; Lembar Q&amp;A Dewan Juri</a:t>
            </a:r>
          </a:p>
          <a:p>
            <a:pPr>
              <a:spcBef>
                <a:spcPts val="800"/>
              </a:spcBef>
              <a:defRPr sz="1500">
                <a:solidFill>
                  <a:srgbClr val="DCF0E1"/>
                </a:solidFill>
                <a:latin typeface="Segoe UI"/>
              </a:defRPr>
            </a:pPr>
            <a:r>
              <a:t>• A-1 : Formulasi Matematis Logit Blending &amp; Nelder-Mead Optimization</a:t>
            </a:r>
          </a:p>
          <a:p>
            <a:pPr>
              <a:spcBef>
                <a:spcPts val="800"/>
              </a:spcBef>
              <a:defRPr sz="1500">
                <a:solidFill>
                  <a:srgbClr val="DCF0E1"/>
                </a:solidFill>
                <a:latin typeface="Segoe UI"/>
              </a:defRPr>
            </a:pPr>
            <a:r>
              <a:t>• A-2 : Kurva Sensitivitas Threshold &amp; Trade-off Precision-Recall (Mixed Pixel)</a:t>
            </a:r>
          </a:p>
          <a:p>
            <a:pPr>
              <a:spcBef>
                <a:spcPts val="800"/>
              </a:spcBef>
              <a:defRPr sz="1500">
                <a:solidFill>
                  <a:srgbClr val="DCF0E1"/>
                </a:solidFill>
                <a:latin typeface="Segoe UI"/>
              </a:defRPr>
            </a:pPr>
            <a:r>
              <a:t>• A-3 : Rincian Arsitektur, Compound Loss Function, &amp; Hyperparameter Pelatihan</a:t>
            </a:r>
          </a:p>
          <a:p>
            <a:pPr>
              <a:spcBef>
                <a:spcPts val="800"/>
              </a:spcBef>
              <a:defRPr sz="1500">
                <a:solidFill>
                  <a:srgbClr val="DCF0E1"/>
                </a:solidFill>
                <a:latin typeface="Segoe UI"/>
              </a:defRPr>
            </a:pPr>
            <a:r>
              <a:t>• A-4 : Penanganan NoData Boundary (Border Swath) &amp; Formulasi Rule D-002</a:t>
            </a:r>
          </a:p>
          <a:p>
            <a:pPr>
              <a:spcBef>
                <a:spcPts val="800"/>
              </a:spcBef>
              <a:defRPr sz="1500">
                <a:solidFill>
                  <a:srgbClr val="DCF0E1"/>
                </a:solidFill>
                <a:latin typeface="Segoe UI"/>
              </a:defRPr>
            </a:pPr>
            <a:r>
              <a:t>• A-5 : Audit Radiometrik &amp; Normalisasi Pleiades vs ImageNet (Uji Statistik KS)</a:t>
            </a:r>
          </a:p>
          <a:p>
            <a:pPr>
              <a:spcBef>
                <a:spcPts val="800"/>
              </a:spcBef>
              <a:defRPr sz="1500">
                <a:solidFill>
                  <a:srgbClr val="DCF0E1"/>
                </a:solidFill>
                <a:latin typeface="Segoe UI"/>
              </a:defRPr>
            </a:pPr>
            <a:r>
              <a:t>• A-6 : Analisis Indeks Spektral NGRDI (Ketiadaan Kanal NIR)</a:t>
            </a:r>
          </a:p>
          <a:p>
            <a:pPr>
              <a:spcBef>
                <a:spcPts val="800"/>
              </a:spcBef>
              <a:defRPr sz="1500">
                <a:solidFill>
                  <a:srgbClr val="DCF0E1"/>
                </a:solidFill>
                <a:latin typeface="Segoe UI"/>
              </a:defRPr>
            </a:pPr>
            <a:r>
              <a:t>• A-7 : Dinamika Private Leaderboard (Shake-up Analysis Kenaikan +5 Posisi)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03524"/>
                </a:solidFill>
                <a:latin typeface="Segoe UI"/>
              </a:defRPr>
            </a:pPr>
            <a:r>
              <a:t>LAMPIRAN A1: </a:t>
            </a:r>
            <a:r>
              <a:rPr sz="2000" b="1">
                <a:solidFill>
                  <a:srgbClr val="103524"/>
                </a:solidFill>
                <a:latin typeface="Segoe UI"/>
              </a:rPr>
              <a:t>FORMULASI MATEMATIS LOGIT BLENDING &amp; NELDER-MEAD</a:t>
            </a:r>
          </a:p>
          <a:p>
            <a:pPr>
              <a:spcBef>
                <a:spcPts val="400"/>
              </a:spcBef>
              <a:defRPr sz="1300">
                <a:solidFill>
                  <a:srgbClr val="697A70"/>
                </a:solidFill>
                <a:latin typeface="Segoe UI"/>
              </a:defRPr>
            </a:pPr>
            <a:r>
              <a:t>Penyatuan ensemble di ruang logit unconstrained mempertahankan sifat probabilitas ekstrem mendekati 0 dan 1.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57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3524"/>
                </a:solidFill>
                <a:latin typeface="Segoe UI"/>
              </a:defRPr>
            </a:pPr>
            <a:r>
              <a:t>Transformasi ke Ruang Logit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Kelemahan Rata-Rata Linear : </a:t>
            </a:r>
            <a:r>
              <a:rPr b="0">
                <a:solidFill>
                  <a:srgbClr val="18261E"/>
                </a:solidFill>
              </a:rPr>
              <a:t>Interval [0, 1] rentan tertekan (squashing) pada batas ekstrem.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Formula Unconstrained Logit : </a:t>
            </a:r>
            <a:r>
              <a:rPr b="0">
                <a:solidFill>
                  <a:srgbClr val="18261E"/>
                </a:solidFill>
              </a:rPr>
              <a:t>z_i = Σ w_m · ln[ p_m / (1 - p_m + ε) ] dengan Σ w_m = 1.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Inverse Logistic Function : </a:t>
            </a:r>
            <a:r>
              <a:rPr b="0">
                <a:solidFill>
                  <a:srgbClr val="18261E"/>
                </a:solidFill>
              </a:rPr>
              <a:t>P_ensemble = 1 / (1 + exp(-z_i))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Keunggulan : </a:t>
            </a:r>
            <a:r>
              <a:rPr b="0">
                <a:solidFill>
                  <a:srgbClr val="18261E"/>
                </a:solidFill>
              </a:rPr>
              <a:t>Mempertahankan ketajaman kontur batas pematang sawah.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57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7344"/>
                </a:solidFill>
                <a:latin typeface="Segoe UI"/>
              </a:defRPr>
            </a:pPr>
            <a:r>
              <a:t>Optimasi Simplex Nelder-Mead OOF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Fungsi Objektif : </a:t>
            </a:r>
            <a:r>
              <a:rPr b="0">
                <a:solidFill>
                  <a:srgbClr val="18261E"/>
                </a:solidFill>
              </a:rPr>
              <a:t>Memaksimalkan Micro-IoU: max_{w, τ}  TP / (TP + FP + FN)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Bobot Optimal OOF : </a:t>
            </a:r>
            <a:r>
              <a:rPr b="0">
                <a:solidFill>
                  <a:srgbClr val="18261E"/>
                </a:solidFill>
              </a:rPr>
              <a:t>m3: 36,9% • m4: 25,3% • m5: 22,3% • m7: 15,6%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Threshold Global Optimal : </a:t>
            </a:r>
            <a:r>
              <a:rPr b="0">
                <a:solidFill>
                  <a:srgbClr val="18261E"/>
                </a:solidFill>
              </a:rPr>
              <a:t>τ = 0,4652 (bukan default 0,50)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Skor Puncak Micro-IoU OOF : </a:t>
            </a:r>
            <a:r>
              <a:rPr b="0">
                <a:solidFill>
                  <a:srgbClr val="18261E"/>
                </a:solidFill>
              </a:rPr>
              <a:t>0,9178 (tervalidasi bebas leakage)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03524"/>
                </a:solidFill>
                <a:latin typeface="Segoe UI"/>
              </a:defRPr>
            </a:pPr>
            <a:r>
              <a:t>LAMPIRAN A2: </a:t>
            </a:r>
            <a:r>
              <a:rPr sz="2000" b="1">
                <a:solidFill>
                  <a:srgbClr val="103524"/>
                </a:solidFill>
                <a:latin typeface="Segoe UI"/>
              </a:rPr>
              <a:t>KURVA SENSITIVITAS THRESHOLD &amp; TRADE-OFF PRECISION-RECALL</a:t>
            </a:r>
          </a:p>
          <a:p>
            <a:pPr>
              <a:spcBef>
                <a:spcPts val="400"/>
              </a:spcBef>
              <a:defRPr sz="1300">
                <a:solidFill>
                  <a:srgbClr val="697A70"/>
                </a:solidFill>
                <a:latin typeface="Segoe UI"/>
              </a:defRPr>
            </a:pPr>
            <a:r>
              <a:t>Titik optimal τ = 0,4652 menyeimbangkan tangkapan pematang sempit tanpa membocorkan false positive.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4864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ell_14b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08760"/>
            <a:ext cx="5303520" cy="4663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92240" y="1417320"/>
            <a:ext cx="49377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645920"/>
            <a:ext cx="4480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3524"/>
                </a:solidFill>
                <a:latin typeface="Segoe UI"/>
              </a:defRPr>
            </a:pPr>
            <a:r>
              <a:t>Analisis Trade-Off &amp; Mixed Pixel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Kurva Cekung Mulus : </a:t>
            </a:r>
            <a:r>
              <a:rPr b="0">
                <a:solidFill>
                  <a:srgbClr val="18261E"/>
                </a:solidFill>
              </a:rPr>
              <a:t>Puncak IoU stabil pada τ = 0,4652 dengan skor Micro-IoU = 0,9178.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Mengapa Bukan 0,50? : </a:t>
            </a:r>
            <a:r>
              <a:rPr b="0">
                <a:solidFill>
                  <a:srgbClr val="18261E"/>
                </a:solidFill>
              </a:rPr>
              <a:t>Ambang 0,50 memicu penalti under-prediction berat pada petak sempit.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Mixed-Pixel (0,5m) : </a:t>
            </a:r>
            <a:r>
              <a:rPr b="0">
                <a:solidFill>
                  <a:srgbClr val="18261E"/>
                </a:solidFill>
              </a:rPr>
              <a:t>Pematang campur air berkisar di keyakinan 0,40–0,48; ambang 0,465 memaksimalkan recall.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Stabilitas Tinggi : </a:t>
            </a:r>
            <a:r>
              <a:rPr b="0">
                <a:solidFill>
                  <a:srgbClr val="18261E"/>
                </a:solidFill>
              </a:rPr>
              <a:t>IoU &gt; 0,915 di seluruh rentang τ ∈ [0,44, 0,48], membuktikan kekokohan model.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03524"/>
                </a:solidFill>
                <a:latin typeface="Segoe UI"/>
              </a:defRPr>
            </a:pPr>
            <a:r>
              <a:t>LAMPIRAN A3: </a:t>
            </a:r>
            <a:r>
              <a:rPr sz="2000" b="1">
                <a:solidFill>
                  <a:srgbClr val="103524"/>
                </a:solidFill>
                <a:latin typeface="Segoe UI"/>
              </a:rPr>
              <a:t>RINCIAN ARSITEKTUR, LOSS, &amp; HYPERPARAMETER PELATIHAN</a:t>
            </a:r>
          </a:p>
          <a:p>
            <a:pPr>
              <a:spcBef>
                <a:spcPts val="400"/>
              </a:spcBef>
              <a:defRPr sz="1300">
                <a:solidFill>
                  <a:srgbClr val="697A70"/>
                </a:solidFill>
                <a:latin typeface="Segoe UI"/>
              </a:defRPr>
            </a:pPr>
            <a:r>
              <a:t>Spesifikasi komputasi 20 model terlatih pada GPU NVIDIA RTX 5070 dengan mixed-precision AMP.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57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3524"/>
                </a:solidFill>
                <a:latin typeface="Segoe UI"/>
              </a:defRPr>
            </a:pPr>
            <a:r>
              <a:t>Spesifikasi 4 Arsitektur Juara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m3 U-Net (SE-ResNeXt50) : </a:t>
            </a:r>
            <a:r>
              <a:rPr b="0">
                <a:solidFill>
                  <a:srgbClr val="18261E"/>
                </a:solidFill>
              </a:rPr>
              <a:t>34.5M params | Fold IoU: 0.9103 | Channel gating adaptif.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m4 U-Net (EffNet-B4) : </a:t>
            </a:r>
            <a:r>
              <a:rPr b="0">
                <a:solidFill>
                  <a:srgbClr val="18261E"/>
                </a:solidFill>
              </a:rPr>
              <a:t>20.1M params | Fold IoU: 0.9041 | Compound scaling seimbang.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m5 DeepLabV3+ (ResNeXt50) : </a:t>
            </a:r>
            <a:r>
              <a:rPr b="0">
                <a:solidFill>
                  <a:srgbClr val="18261E"/>
                </a:solidFill>
              </a:rPr>
              <a:t>26.1M params | Fold IoU: 0.8997 | ASPP multiscale receptive field.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m7 MAnet (MiT-B3) : </a:t>
            </a:r>
            <a:r>
              <a:rPr b="0">
                <a:solidFill>
                  <a:srgbClr val="18261E"/>
                </a:solidFill>
              </a:rPr>
              <a:t>47.4M params | Fold IoU: 0.8894 | Hierarchical multi-scale transformer.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57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7344"/>
                </a:solidFill>
                <a:latin typeface="Segoe UI"/>
              </a:defRPr>
            </a:pPr>
            <a:r>
              <a:t>Protokol Pelatihan &amp; Komputasi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Compound Loss : </a:t>
            </a:r>
            <a:r>
              <a:rPr b="0">
                <a:solidFill>
                  <a:srgbClr val="18261E"/>
                </a:solidFill>
              </a:rPr>
              <a:t>0,5 × BCEWithLogits + 0,5 × SoftDice (gradien piksel + overlap).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Optimizer &amp; LR : </a:t>
            </a:r>
            <a:r>
              <a:rPr b="0">
                <a:solidFill>
                  <a:srgbClr val="18261E"/>
                </a:solidFill>
              </a:rPr>
              <a:t>AdamW (lr=3e-4, wd=1e-4) dengan CosineAnnealingLR (T_max=30).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Batching &amp; Augmentasi : </a:t>
            </a:r>
            <a:r>
              <a:rPr b="0">
                <a:solidFill>
                  <a:srgbClr val="18261E"/>
                </a:solidFill>
              </a:rPr>
              <a:t>Crop acak 512×512, batch 8, epoch 30, D4 dihedral augmentation.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Akselerasi GPU : </a:t>
            </a:r>
            <a:r>
              <a:rPr b="0">
                <a:solidFill>
                  <a:srgbClr val="18261E"/>
                </a:solidFill>
              </a:rPr>
              <a:t>NVIDIA RTX 5070 12GB VRAM, Mixed Precision FP16 (61,1 menit).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03524"/>
                </a:solidFill>
                <a:latin typeface="Segoe UI"/>
              </a:defRPr>
            </a:pPr>
            <a:r>
              <a:t>LAMPIRAN A4: </a:t>
            </a:r>
            <a:r>
              <a:rPr sz="2000" b="1">
                <a:solidFill>
                  <a:srgbClr val="103524"/>
                </a:solidFill>
                <a:latin typeface="Segoe UI"/>
              </a:rPr>
              <a:t>PENANGANAN NODATA BOUNDARY (BORDER SWATH) &amp; RULE D-002</a:t>
            </a:r>
          </a:p>
          <a:p>
            <a:pPr>
              <a:spcBef>
                <a:spcPts val="400"/>
              </a:spcBef>
              <a:defRPr sz="1300">
                <a:solidFill>
                  <a:srgbClr val="697A70"/>
                </a:solidFill>
                <a:latin typeface="Segoe UI"/>
              </a:defRPr>
            </a:pPr>
            <a:r>
              <a:t>Proteksi deterministik mengeliminasi false positive akibat kebocoran tekstur di tepian orbit satelit.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57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3524"/>
                </a:solidFill>
                <a:latin typeface="Segoe UI"/>
              </a:defRPr>
            </a:pPr>
            <a:r>
              <a:t>Audit Fisik NoData [0, 0, 0]</a:t>
            </a:r>
          </a:p>
          <a:p>
            <a:pPr>
              <a:spcBef>
                <a:spcPts val="12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Asal-usul Batas Hitam : </a:t>
            </a:r>
            <a:r>
              <a:rPr b="0">
                <a:solidFill>
                  <a:srgbClr val="18261E"/>
                </a:solidFill>
              </a:rPr>
              <a:t>Terbentuk dari pemotongan poligon sudut orbit satelit Pleiades mosaik.</a:t>
            </a:r>
          </a:p>
          <a:p>
            <a:pPr>
              <a:spcBef>
                <a:spcPts val="12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Statistik NoData : </a:t>
            </a:r>
            <a:r>
              <a:rPr b="0">
                <a:solidFill>
                  <a:srgbClr val="18261E"/>
                </a:solidFill>
              </a:rPr>
              <a:t>Rerata 18,95% (train) dan 14,07% (test); 22 tile train &gt;50% kosong.</a:t>
            </a:r>
          </a:p>
          <a:p>
            <a:pPr>
              <a:spcBef>
                <a:spcPts val="12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Integritas Ground Truth : </a:t>
            </a:r>
            <a:r>
              <a:rPr b="0">
                <a:solidFill>
                  <a:srgbClr val="18261E"/>
                </a:solidFill>
              </a:rPr>
              <a:t>Pada 100% piksel NoData [0,0,0], sawah terbukti tepat 0,00%.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57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7344"/>
                </a:solidFill>
                <a:latin typeface="Segoe UI"/>
              </a:defRPr>
            </a:pPr>
            <a:r>
              <a:t>Aturan Determinis Rule D-002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Formulasi Deterministik : </a:t>
            </a:r>
            <a:r>
              <a:rPr b="0">
                <a:solidFill>
                  <a:srgbClr val="18261E"/>
                </a:solidFill>
              </a:rPr>
              <a:t>pred_mask[img == [0, 0, 0]] = 0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Mengapa Diperlukan? : </a:t>
            </a:r>
            <a:r>
              <a:rPr b="0">
                <a:solidFill>
                  <a:srgbClr val="18261E"/>
                </a:solidFill>
              </a:rPr>
              <a:t>Konvolusi &amp; atensi rentan bocor tekstur (texture bleeding) di batas orbit.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Thresholding Adaptif : </a:t>
            </a:r>
            <a:r>
              <a:rPr b="0">
                <a:solidFill>
                  <a:srgbClr val="18261E"/>
                </a:solidFill>
              </a:rPr>
              <a:t>τ_local = max(0.20, BASE_TAU - 0.25 × nodata_pct) untuk tile terpotong.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Dampak Evaluasi : </a:t>
            </a:r>
            <a:r>
              <a:rPr b="0">
                <a:solidFill>
                  <a:srgbClr val="18261E"/>
                </a:solidFill>
              </a:rPr>
              <a:t>Menghapus 100% false positive border swath secara lossless.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03524"/>
                </a:solidFill>
                <a:latin typeface="Segoe UI"/>
              </a:defRPr>
            </a:pPr>
            <a:r>
              <a:t>LAMPIRAN A5: </a:t>
            </a:r>
            <a:r>
              <a:rPr sz="2000" b="1">
                <a:solidFill>
                  <a:srgbClr val="103524"/>
                </a:solidFill>
                <a:latin typeface="Segoe UI"/>
              </a:rPr>
              <a:t>AUDIT RADIOMETRIK &amp; NORMALISASI PLEIADES VS IMAGENET</a:t>
            </a:r>
          </a:p>
          <a:p>
            <a:pPr>
              <a:spcBef>
                <a:spcPts val="400"/>
              </a:spcBef>
              <a:defRPr sz="1300">
                <a:solidFill>
                  <a:srgbClr val="697A70"/>
                </a:solidFill>
                <a:latin typeface="Segoe UI"/>
              </a:defRPr>
            </a:pPr>
            <a:r>
              <a:t>Statistik Kolmogorov-Smirnov &lt; 0,05 membuktikan ketiadaan domain shift antara data latih dan uji.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57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3524"/>
                </a:solidFill>
                <a:latin typeface="Segoe UI"/>
              </a:defRPr>
            </a:pPr>
            <a:r>
              <a:t>Normalisasi Khusus Pleiades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Statistik Pleiades : </a:t>
            </a:r>
            <a:r>
              <a:rPr b="0">
                <a:solidFill>
                  <a:srgbClr val="18261E"/>
                </a:solidFill>
              </a:rPr>
              <a:t>Mean: [0.3230, 0.3372, 0.3593] | Std: [0.2069, 0.1901, 0.1848]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ImageNet Default : </a:t>
            </a:r>
            <a:r>
              <a:rPr b="0">
                <a:solidFill>
                  <a:srgbClr val="18261E"/>
                </a:solidFill>
              </a:rPr>
              <a:t>Mean: [0.4850, 0.4560, 0.4060] | Std: [0.2290, 0.2240, 0.2250]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Justifikasi Fisik : </a:t>
            </a:r>
            <a:r>
              <a:rPr b="0">
                <a:solidFill>
                  <a:srgbClr val="18261E"/>
                </a:solidFill>
              </a:rPr>
              <a:t>Citra satelit Pleiades jauh lebih gelap &amp; pekat dibanding foto natural.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Dampak Pelatihan : </a:t>
            </a:r>
            <a:r>
              <a:rPr b="0">
                <a:solidFill>
                  <a:srgbClr val="18261E"/>
                </a:solidFill>
              </a:rPr>
              <a:t>Aktivasi fitur awal terpusat pada rentang dinamis citra; gradien stabil.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57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7344"/>
                </a:solidFill>
                <a:latin typeface="Segoe UI"/>
              </a:defRPr>
            </a:pPr>
            <a:r>
              <a:t>Uji Covariate Shift (Kolmogorov-Smirnov)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Tujuan Uji Statistik : </a:t>
            </a:r>
            <a:r>
              <a:rPr b="0">
                <a:solidFill>
                  <a:srgbClr val="18261E"/>
                </a:solidFill>
              </a:rPr>
              <a:t>Menguji apakah distribusi intensitas piksel train dan test identik.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Statistik KS Dua Sampel : </a:t>
            </a:r>
            <a:r>
              <a:rPr b="0">
                <a:solidFill>
                  <a:srgbClr val="18261E"/>
                </a:solidFill>
              </a:rPr>
              <a:t>Kanal R: 0,0197 | Kanal G: 0,0374 | Kanal B: 0,0405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Interpretasi Keputusan : </a:t>
            </a:r>
            <a:r>
              <a:rPr b="0">
                <a:solidFill>
                  <a:srgbClr val="18261E"/>
                </a:solidFill>
              </a:rPr>
              <a:t>Seluruh nilai uji berada jauh di bawah batas kritis 0,05 (p &gt; 0,05).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Kesimpulan Ilmiah : </a:t>
            </a:r>
            <a:r>
              <a:rPr b="0">
                <a:solidFill>
                  <a:srgbClr val="18261E"/>
                </a:solidFill>
              </a:rPr>
              <a:t>Tidak ada covariate shift radiometrik; kalibrasi sensor homogen.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03524"/>
                </a:solidFill>
                <a:latin typeface="Segoe UI"/>
              </a:defRPr>
            </a:pPr>
            <a:r>
              <a:t>LAMPIRAN A6: </a:t>
            </a:r>
            <a:r>
              <a:rPr sz="2000" b="1">
                <a:solidFill>
                  <a:srgbClr val="103524"/>
                </a:solidFill>
                <a:latin typeface="Segoe UI"/>
              </a:rPr>
              <a:t>ANALISIS INDEKS SPEKTRAL NGRDI (KETIADAAN KANAL NIR)</a:t>
            </a:r>
          </a:p>
          <a:p>
            <a:pPr>
              <a:spcBef>
                <a:spcPts val="400"/>
              </a:spcBef>
              <a:defRPr sz="1300">
                <a:solidFill>
                  <a:srgbClr val="697A70"/>
                </a:solidFill>
                <a:latin typeface="Segoe UI"/>
              </a:defRPr>
            </a:pPr>
            <a:r>
              <a:t>Model memadukan indeks diferensial hijau-merah dengan prior tekstur dan geometri pematang lurus.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57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3524"/>
                </a:solidFill>
                <a:latin typeface="Segoe UI"/>
              </a:defRPr>
            </a:pPr>
            <a:r>
              <a:t>Substitusi NDVI: Indeks NGRDI</a:t>
            </a:r>
          </a:p>
          <a:p>
            <a:pPr>
              <a:spcBef>
                <a:spcPts val="12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Tantangan Spektral : </a:t>
            </a:r>
            <a:r>
              <a:rPr b="0">
                <a:solidFill>
                  <a:srgbClr val="18261E"/>
                </a:solidFill>
              </a:rPr>
              <a:t>Citra Pleiades hanya RGB tanpa kanal NIR; NDVI standar tidak tersedia.</a:t>
            </a:r>
          </a:p>
          <a:p>
            <a:pPr>
              <a:spcBef>
                <a:spcPts val="12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Formulasi NGRDI : </a:t>
            </a:r>
            <a:r>
              <a:rPr b="0">
                <a:solidFill>
                  <a:srgbClr val="18261E"/>
                </a:solidFill>
              </a:rPr>
              <a:t>NGRDI = (G - R) / (G + R + ε)</a:t>
            </a:r>
          </a:p>
          <a:p>
            <a:pPr>
              <a:spcBef>
                <a:spcPts val="12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Daya Pisah Empiris : </a:t>
            </a:r>
            <a:r>
              <a:rPr b="0">
                <a:solidFill>
                  <a:srgbClr val="18261E"/>
                </a:solidFill>
              </a:rPr>
              <a:t>Rerata Sawah: +0,0320 vs Rerata Non-Sawah: +0,0154</a:t>
            </a:r>
          </a:p>
          <a:p>
            <a:pPr>
              <a:spcBef>
                <a:spcPts val="12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Indikasi Biologis : </a:t>
            </a:r>
            <a:r>
              <a:rPr b="0">
                <a:solidFill>
                  <a:srgbClr val="18261E"/>
                </a:solidFill>
              </a:rPr>
              <a:t>Sawah aktif memiliki reflektansi klorofil hijau positif yang konsisten.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57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7344"/>
                </a:solidFill>
                <a:latin typeface="Segoe UI"/>
              </a:defRPr>
            </a:pPr>
            <a:r>
              <a:t>Prior Spasial &amp; Tekstur Mendalam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Membedakan Sawah vs Pohon : </a:t>
            </a:r>
            <a:r>
              <a:rPr b="0">
                <a:solidFill>
                  <a:srgbClr val="18261E"/>
                </a:solidFill>
              </a:rPr>
              <a:t>Tanpa NIR, model memanfaatkan representasi spasial mendalam: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1. Pematang Lurus (Bunds) : </a:t>
            </a:r>
            <a:r>
              <a:rPr b="0">
                <a:solidFill>
                  <a:srgbClr val="18261E"/>
                </a:solidFill>
              </a:rPr>
              <a:t>Petak sawah memiliki kontur garis ortogonal dan terasering berundak.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2. Tekstur Permukaan Halus : </a:t>
            </a:r>
            <a:r>
              <a:rPr b="0">
                <a:solidFill>
                  <a:srgbClr val="18261E"/>
                </a:solidFill>
              </a:rPr>
              <a:t>Permukaan air sawah seragam, berbeda dari kanopi pohon yang kasar.</a:t>
            </a:r>
          </a:p>
          <a:p>
            <a:pPr>
              <a:spcBef>
                <a:spcPts val="1000"/>
              </a:spcBef>
              <a:defRPr sz="1300" b="1">
                <a:solidFill>
                  <a:srgbClr val="103524"/>
                </a:solidFill>
                <a:latin typeface="Segoe UI"/>
              </a:defRPr>
            </a:pPr>
            <a:r>
              <a:t>• 3. Konteks Multiskala : </a:t>
            </a:r>
            <a:r>
              <a:rPr b="0">
                <a:solidFill>
                  <a:srgbClr val="18261E"/>
                </a:solidFill>
              </a:rPr>
              <a:t>ASPP &amp; Transformer mengkorelasikan petak sawah dengan irigasi.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591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03524"/>
                </a:solidFill>
                <a:latin typeface="Segoe UI"/>
              </a:defRPr>
            </a:pPr>
            <a:r>
              <a:t>LAMPIRAN A7: </a:t>
            </a:r>
            <a:r>
              <a:rPr sz="2000" b="1">
                <a:solidFill>
                  <a:srgbClr val="103524"/>
                </a:solidFill>
                <a:latin typeface="Segoe UI"/>
              </a:rPr>
              <a:t>DINAMIKA PRIVATE LEADERBOARD (SHAKE-UP ANALYSIS)</a:t>
            </a:r>
          </a:p>
          <a:p>
            <a:pPr>
              <a:spcBef>
                <a:spcPts val="400"/>
              </a:spcBef>
              <a:defRPr sz="1300">
                <a:solidFill>
                  <a:srgbClr val="697A70"/>
                </a:solidFill>
                <a:latin typeface="Segoe UI"/>
              </a:defRPr>
            </a:pPr>
            <a:r>
              <a:t>Validasi silang terstratifikasi dan optimasi OOF murni membuktikan pipeline bebas overfitting ke Public LB.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57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3524"/>
                </a:solidFill>
                <a:latin typeface="Segoe UI"/>
              </a:defRPr>
            </a:pPr>
            <a:r>
              <a:t>Bukti Ketahanan Generalisasi</a:t>
            </a:r>
          </a:p>
          <a:p>
            <a:pPr>
              <a:spcBef>
                <a:spcPts val="1200"/>
              </a:spcBef>
              <a:defRPr sz="1350" b="1">
                <a:solidFill>
                  <a:srgbClr val="103524"/>
                </a:solidFill>
                <a:latin typeface="Segoe UI"/>
              </a:defRPr>
            </a:pPr>
            <a:r>
              <a:t>• Public Leaderboard (55%) : </a:t>
            </a:r>
            <a:r>
              <a:rPr b="0">
                <a:solidFill>
                  <a:srgbClr val="18261E"/>
                </a:solidFill>
              </a:rPr>
              <a:t>Skor: 0,78169 | Peringkat 7 Nasional</a:t>
            </a:r>
          </a:p>
          <a:p>
            <a:pPr>
              <a:spcBef>
                <a:spcPts val="1200"/>
              </a:spcBef>
              <a:defRPr sz="1350" b="1">
                <a:solidFill>
                  <a:srgbClr val="103524"/>
                </a:solidFill>
                <a:latin typeface="Segoe UI"/>
              </a:defRPr>
            </a:pPr>
            <a:r>
              <a:t>• Private Leaderboard (45%) : </a:t>
            </a:r>
            <a:r>
              <a:rPr b="0">
                <a:solidFill>
                  <a:srgbClr val="18261E"/>
                </a:solidFill>
              </a:rPr>
              <a:t>Skor: 0,68965 | Peringkat 2 Nasional (Runner-Up)</a:t>
            </a:r>
          </a:p>
          <a:p>
            <a:pPr>
              <a:spcBef>
                <a:spcPts val="1200"/>
              </a:spcBef>
              <a:defRPr sz="1350" b="1">
                <a:solidFill>
                  <a:srgbClr val="103524"/>
                </a:solidFill>
                <a:latin typeface="Segoe UI"/>
              </a:defRPr>
            </a:pPr>
            <a:r>
              <a:t>• Kenaikan Peringkat : </a:t>
            </a:r>
            <a:r>
              <a:rPr b="0">
                <a:solidFill>
                  <a:srgbClr val="18261E"/>
                </a:solidFill>
              </a:rPr>
              <a:t>Melonjak naik +5 POSISI saat dievaluasi pada data uji final!</a:t>
            </a:r>
          </a:p>
          <a:p>
            <a:pPr>
              <a:spcBef>
                <a:spcPts val="1200"/>
              </a:spcBef>
              <a:defRPr sz="1350" b="1">
                <a:solidFill>
                  <a:srgbClr val="103524"/>
                </a:solidFill>
                <a:latin typeface="Segoe UI"/>
              </a:defRPr>
            </a:pPr>
            <a:r>
              <a:t>• Selisih dari Juara 1 : </a:t>
            </a:r>
            <a:r>
              <a:rPr b="0">
                <a:solidFill>
                  <a:srgbClr val="18261E"/>
                </a:solidFill>
              </a:rPr>
              <a:t>Skor Juara 1: 0,69137 (selisih sangat tipis: 0,0017 / 0,17%).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57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7344"/>
                </a:solidFill>
                <a:latin typeface="Segoe UI"/>
              </a:defRPr>
            </a:pPr>
            <a:r>
              <a:t>Mengapa Solusi Kami Tahan Goncangan?</a:t>
            </a:r>
          </a:p>
          <a:p>
            <a:pPr>
              <a:spcBef>
                <a:spcPts val="1200"/>
              </a:spcBef>
              <a:defRPr sz="1350" b="1">
                <a:solidFill>
                  <a:srgbClr val="103524"/>
                </a:solidFill>
                <a:latin typeface="Segoe UI"/>
              </a:defRPr>
            </a:pPr>
            <a:r>
              <a:t>• Kalibrasi Bebas Leakage : </a:t>
            </a:r>
            <a:r>
              <a:rPr b="0">
                <a:solidFill>
                  <a:srgbClr val="18261E"/>
                </a:solidFill>
              </a:rPr>
              <a:t>Bobot &amp; threshold dituning murni pada OOF 5-fold tanpa sentuh test set.</a:t>
            </a:r>
          </a:p>
          <a:p>
            <a:pPr>
              <a:spcBef>
                <a:spcPts val="1200"/>
              </a:spcBef>
              <a:defRPr sz="1350" b="1">
                <a:solidFill>
                  <a:srgbClr val="103524"/>
                </a:solidFill>
                <a:latin typeface="Segoe UI"/>
              </a:defRPr>
            </a:pPr>
            <a:r>
              <a:t>• Stratifikasi Kuantil Tutupan : </a:t>
            </a:r>
            <a:r>
              <a:rPr b="0">
                <a:solidFill>
                  <a:srgbClr val="18261E"/>
                </a:solidFill>
              </a:rPr>
              <a:t>Proporsi sawah merata di setiap fold (35% - 39%), mencegah bias metrik.</a:t>
            </a:r>
          </a:p>
          <a:p>
            <a:pPr>
              <a:spcBef>
                <a:spcPts val="1200"/>
              </a:spcBef>
              <a:defRPr sz="1350" b="1">
                <a:solidFill>
                  <a:srgbClr val="103524"/>
                </a:solidFill>
                <a:latin typeface="Segoe UI"/>
              </a:defRPr>
            </a:pPr>
            <a:r>
              <a:t>• Multi-Family Diversity : </a:t>
            </a:r>
            <a:r>
              <a:rPr b="0">
                <a:solidFill>
                  <a:srgbClr val="18261E"/>
                </a:solidFill>
              </a:rPr>
              <a:t>Kombinasi CNN, ASPP, &amp; Transformer meredam variansi error pada area baru.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